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88" r:id="rId11"/>
    <p:sldId id="264" r:id="rId12"/>
    <p:sldId id="265" r:id="rId13"/>
    <p:sldId id="289" r:id="rId14"/>
    <p:sldId id="287" r:id="rId15"/>
    <p:sldId id="266" r:id="rId16"/>
    <p:sldId id="285" r:id="rId17"/>
    <p:sldId id="267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8"/>
    <p:restoredTop sz="94681"/>
  </p:normalViewPr>
  <p:slideViewPr>
    <p:cSldViewPr snapToGrid="0" snapToObjects="1">
      <p:cViewPr varScale="1">
        <p:scale>
          <a:sx n="91" d="100"/>
          <a:sy n="91" d="100"/>
        </p:scale>
        <p:origin x="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35447-01ED-7048-AF0F-744064694371}" type="datetimeFigureOut">
              <a:rPr kumimoji="1" lang="ko-KR" altLang="en-US" smtClean="0"/>
              <a:t>2026. 4. 19.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D37A8-EE83-864C-BB8B-51BADD610C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583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D37A8-EE83-864C-BB8B-51BADD610CDB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8552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D37A8-EE83-864C-BB8B-51BADD610CDB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3539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377440"/>
            <a:ext cx="10972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400" b="1" dirty="0">
                <a:solidFill>
                  <a:srgbClr val="FFFFFF"/>
                </a:solidFill>
                <a:latin typeface="Pretendard"/>
              </a:rPr>
              <a:t>차세대 마이그레이션</a:t>
            </a:r>
            <a:endParaRPr sz="44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60A5FA"/>
                </a:solidFill>
                <a:latin typeface="Pretendard"/>
              </a:rPr>
              <a:t>Spring </a:t>
            </a:r>
            <a:r>
              <a:rPr lang="en-US" sz="2800" b="1" dirty="0" err="1">
                <a:solidFill>
                  <a:srgbClr val="60A5FA"/>
                </a:solidFill>
                <a:latin typeface="Pretendard"/>
              </a:rPr>
              <a:t>WebFlux</a:t>
            </a:r>
            <a:r>
              <a:rPr lang="en-US" sz="2800" b="1" dirty="0">
                <a:solidFill>
                  <a:srgbClr val="60A5FA"/>
                </a:solidFill>
                <a:latin typeface="Pretendard"/>
              </a:rPr>
              <a:t> To Spring MVC(+Virtual Thread) With JDK25</a:t>
            </a:r>
            <a:endParaRPr sz="2800" b="1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2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목차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116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왜 WebFlux를 썼는가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9CA3AF"/>
                </a:solidFill>
                <a:latin typeface="Pretendard"/>
              </a:rPr>
              <a:t>많은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I/O ·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높은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동시성</a:t>
            </a:r>
            <a:endParaRPr sz="13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375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err="1">
                <a:solidFill>
                  <a:srgbClr val="FFFFFF"/>
                </a:solidFill>
                <a:latin typeface="Pretendard"/>
              </a:rPr>
              <a:t>왜</a:t>
            </a:r>
            <a:r>
              <a:rPr sz="1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Pretendard"/>
              </a:rPr>
              <a:t>WebFlux를</a:t>
            </a:r>
            <a:r>
              <a:rPr sz="1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Pretendard"/>
              </a:rPr>
              <a:t>벗어났는가</a:t>
            </a:r>
            <a:endParaRPr sz="1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9CA3AF"/>
                </a:solidFill>
                <a:latin typeface="Pretendard"/>
              </a:rPr>
              <a:t>세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가지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단점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—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복잡도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·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멜트다운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·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생태계</a:t>
            </a:r>
            <a:endParaRPr sz="13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663440"/>
            <a:ext cx="914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차세대 마이그레이션 장점</a:t>
            </a:r>
            <a:endParaRPr sz="1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5120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9CA3AF"/>
                </a:solidFill>
                <a:latin typeface="Pretendard"/>
              </a:rPr>
              <a:t>JDK 25에서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바뀐</a:t>
            </a:r>
            <a:r>
              <a:rPr sz="13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CA3AF"/>
                </a:solidFill>
                <a:latin typeface="Pretendard"/>
              </a:rPr>
              <a:t>것들</a:t>
            </a:r>
            <a:endParaRPr sz="13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맥락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두 프레임워크는 스레드를 다르게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3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8640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Pretendard"/>
              </a:rPr>
              <a:t>SPRING 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요청 1개 = 스레드 1개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97280" cy="10058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Pretendard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0A0A0A"/>
                </a:solidFill>
                <a:latin typeface="Pretendard"/>
              </a:rPr>
              <a:t>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017520"/>
            <a:ext cx="1097280" cy="10058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3154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Pretendard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204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0A0A0A"/>
                </a:solidFill>
                <a:latin typeface="Pretendard"/>
              </a:rPr>
              <a:t>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017520"/>
            <a:ext cx="1097280" cy="10058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154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Pretendard"/>
              </a:rPr>
              <a:t>T3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204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0A0A0A"/>
                </a:solidFill>
                <a:latin typeface="Pretendard"/>
              </a:rPr>
              <a:t>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017520"/>
            <a:ext cx="1097280" cy="10058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79" y="3154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Pretendard"/>
              </a:rPr>
              <a:t>T4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5204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0A0A0A"/>
                </a:solidFill>
                <a:latin typeface="Pretendard"/>
              </a:rPr>
              <a:t>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5029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D1D5DB"/>
                </a:solidFill>
                <a:latin typeface="Pretendard"/>
              </a:rPr>
              <a:t>I/O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대기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중에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스레드는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점유된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채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잠들어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있음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endParaRPr lang="en-US" sz="1300" b="0" dirty="0">
              <a:solidFill>
                <a:srgbClr val="D1D5DB"/>
              </a:solidFill>
              <a:latin typeface="Pretendard"/>
            </a:endParaRPr>
          </a:p>
          <a:p>
            <a:pPr algn="l"/>
            <a:r>
              <a:rPr sz="1300" b="0" dirty="0">
                <a:solidFill>
                  <a:srgbClr val="D1D5DB"/>
                </a:solidFill>
                <a:latin typeface="Pretendard"/>
              </a:rPr>
              <a:t>→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스레드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수</a:t>
            </a:r>
            <a:r>
              <a:rPr lang="ko-KR" altLang="en-US"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1300" b="0" dirty="0">
                <a:solidFill>
                  <a:srgbClr val="D1D5DB"/>
                </a:solidFill>
                <a:latin typeface="Pretendard"/>
              </a:rPr>
              <a:t>=</a:t>
            </a:r>
            <a:r>
              <a:rPr lang="ko-KR" altLang="en-US"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동시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요청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상한</a:t>
            </a:r>
            <a:endParaRPr sz="13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55080" y="1645920"/>
            <a:ext cx="548640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SPRING WEBFLUX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이벤트 루프 + 논블로킹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200400"/>
            <a:ext cx="5029200" cy="731520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dirty="0">
                <a:solidFill>
                  <a:srgbClr val="60A5FA"/>
                </a:solidFill>
                <a:latin typeface="Pretendard"/>
              </a:rPr>
              <a:t>Event Loop (4~8 threads)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59752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44383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29016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13648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9098280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82912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67544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036808" y="2743200"/>
            <a:ext cx="365760" cy="365760"/>
          </a:xfrm>
          <a:prstGeom prst="ellipse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4297680"/>
            <a:ext cx="5029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D1D5DB"/>
                </a:solidFill>
                <a:latin typeface="Pretendard"/>
              </a:rPr>
              <a:t>I/O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대기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동안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스레드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반납</a:t>
            </a:r>
            <a:r>
              <a:rPr lang="ko-KR" altLang="en-US" sz="1300" b="0" dirty="0">
                <a:solidFill>
                  <a:srgbClr val="D1D5DB"/>
                </a:solidFill>
                <a:latin typeface="Pretendard"/>
              </a:rPr>
              <a:t> 후 다른 요청 처리</a:t>
            </a:r>
            <a:endParaRPr lang="en-US" altLang="ko-KR" sz="1300" b="0" dirty="0">
              <a:solidFill>
                <a:srgbClr val="D1D5DB"/>
              </a:solidFill>
              <a:latin typeface="Pretendard"/>
            </a:endParaRPr>
          </a:p>
          <a:p>
            <a:pPr algn="l"/>
            <a:r>
              <a:rPr sz="1300" b="0" dirty="0">
                <a:solidFill>
                  <a:srgbClr val="D1D5DB"/>
                </a:solidFill>
                <a:latin typeface="Pretendard"/>
              </a:rPr>
              <a:t> → 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적은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스레드로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다수의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요청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처리</a:t>
            </a:r>
            <a:r>
              <a:rPr sz="13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D1D5DB"/>
                </a:solidFill>
                <a:latin typeface="Pretendard"/>
              </a:rPr>
              <a:t>가능</a:t>
            </a:r>
            <a:endParaRPr sz="13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MVC = </a:t>
            </a:r>
            <a:r>
              <a:rPr sz="1300" b="1" i="0">
                <a:solidFill>
                  <a:srgbClr val="FBBF24"/>
                </a:solidFill>
                <a:latin typeface="Pretendard"/>
              </a:rPr>
              <a:t>요청당 스레드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 / WebFlux = </a:t>
            </a:r>
            <a:r>
              <a:rPr sz="1300" b="1" i="0">
                <a:solidFill>
                  <a:srgbClr val="60A5FA"/>
                </a:solidFill>
                <a:latin typeface="Pretendard"/>
              </a:rPr>
              <a:t>이벤트 기반 논블로킹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맥락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Pretendard"/>
              </a:rPr>
              <a:t>I/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O가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많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은 서비스라면</a:t>
            </a:r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?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블로킹 방식이면 대부분의 스레드가 I/O 대기로 잠들어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Pretendard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7171"/>
                </a:solidFill>
                <a:latin typeface="Pretendard"/>
              </a:rPr>
              <a:t>→ 스레드 부족으로 요청 큐잉·타임아웃·OOM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Pretendard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60A5FA"/>
                </a:solidFill>
                <a:latin typeface="Pretendard"/>
              </a:rPr>
              <a:t>WebFlux는</a:t>
            </a:r>
            <a:r>
              <a:rPr sz="18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lang="ko-KR" altLang="en-US" dirty="0">
                <a:solidFill>
                  <a:srgbClr val="60A5FA"/>
                </a:solidFill>
                <a:latin typeface="Pretendard"/>
              </a:rPr>
              <a:t>적은</a:t>
            </a:r>
            <a:r>
              <a:rPr sz="18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800" b="0" dirty="0" err="1">
                <a:solidFill>
                  <a:srgbClr val="60A5FA"/>
                </a:solidFill>
                <a:latin typeface="Pretendard"/>
              </a:rPr>
              <a:t>스레드로</a:t>
            </a:r>
            <a:r>
              <a:rPr sz="18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lang="ko-KR" altLang="en-US" sz="1800" b="0" dirty="0">
                <a:solidFill>
                  <a:srgbClr val="60A5FA"/>
                </a:solidFill>
                <a:latin typeface="Pretendard"/>
              </a:rPr>
              <a:t>많은</a:t>
            </a:r>
            <a:r>
              <a:rPr sz="18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800" b="0" dirty="0" err="1">
                <a:solidFill>
                  <a:srgbClr val="60A5FA"/>
                </a:solidFill>
                <a:latin typeface="Pretendard"/>
              </a:rPr>
              <a:t>요청을</a:t>
            </a:r>
            <a:r>
              <a:rPr sz="18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lang="ko-KR" altLang="en-US" sz="1800" b="0" dirty="0">
                <a:solidFill>
                  <a:srgbClr val="60A5FA"/>
                </a:solidFill>
                <a:latin typeface="Pretendard"/>
              </a:rPr>
              <a:t>처리할 수 있어 높은 처리량과 자원 효율 확보 가능</a:t>
            </a:r>
            <a:endParaRPr sz="1800" b="0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단점 ① / 복잡도 · 익숙함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Pretendard"/>
              </a:rPr>
              <a:t>리액티브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프로그래밍 허들 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vs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전통적인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MVC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스타일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WebFlux + 코루틴 (as-is)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959531" cy="4114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4822371" cy="1509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suspend fun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loadUser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(id: Long) = </a:t>
            </a:r>
            <a:r>
              <a:rPr sz="1100" dirty="0" err="1">
                <a:solidFill>
                  <a:srgbClr val="C084FC"/>
                </a:solidFill>
                <a:latin typeface="Menlo"/>
              </a:rPr>
              <a:t>coroutineScope</a:t>
            </a:r>
            <a:r>
              <a:rPr sz="1100" dirty="0">
                <a:solidFill>
                  <a:srgbClr val="C084FC"/>
                </a:solidFill>
                <a:latin typeface="Menlo"/>
              </a:rPr>
              <a:t> </a:t>
            </a:r>
            <a:r>
              <a:rPr sz="1100" dirty="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val</a:t>
            </a:r>
            <a:r>
              <a:rPr sz="1100" dirty="0">
                <a:solidFill>
                  <a:srgbClr val="D1D5DB"/>
                </a:solidFill>
                <a:latin typeface="Menlo"/>
              </a:rPr>
              <a:t> user  = </a:t>
            </a:r>
            <a:r>
              <a:rPr sz="1100" dirty="0">
                <a:solidFill>
                  <a:srgbClr val="60A5FA"/>
                </a:solidFill>
                <a:latin typeface="Menlo"/>
              </a:rPr>
              <a:t>async {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userApi.get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(id).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awaitSingle</a:t>
            </a:r>
            <a:r>
              <a:rPr sz="1100" dirty="0">
                <a:solidFill>
                  <a:srgbClr val="D1D5DB"/>
                </a:solidFill>
                <a:latin typeface="Menlo"/>
              </a:rPr>
              <a:t>() }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val</a:t>
            </a:r>
            <a:r>
              <a:rPr sz="1100" dirty="0">
                <a:solidFill>
                  <a:srgbClr val="D1D5DB"/>
                </a:solidFill>
                <a:latin typeface="Menlo"/>
              </a:rPr>
              <a:t> order = </a:t>
            </a:r>
            <a:r>
              <a:rPr sz="1100" dirty="0">
                <a:solidFill>
                  <a:srgbClr val="60A5FA"/>
                </a:solidFill>
                <a:latin typeface="Menlo"/>
              </a:rPr>
              <a:t>async {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orderApi.get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(id).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awaitSingle</a:t>
            </a:r>
            <a:r>
              <a:rPr sz="1100" dirty="0">
                <a:solidFill>
                  <a:srgbClr val="D1D5DB"/>
                </a:solidFill>
                <a:latin typeface="Menlo"/>
              </a:rPr>
              <a:t>() }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UserView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user.await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(),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order.await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())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</a:t>
            </a:r>
          </a:p>
          <a:p>
            <a:pPr algn="l"/>
            <a:endParaRPr sz="1100" dirty="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// Flow/Mono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체인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관리</a:t>
            </a:r>
            <a:endParaRPr sz="1100" dirty="0">
              <a:solidFill>
                <a:srgbClr val="6B7280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// reactor Context,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coroutineContext</a:t>
            </a:r>
            <a:r>
              <a:rPr lang="ko-KR" altLang="en-US" sz="1100" dirty="0" err="1">
                <a:solidFill>
                  <a:srgbClr val="6B7280"/>
                </a:solidFill>
                <a:latin typeface="Menlo"/>
              </a:rPr>
              <a:t>를</a:t>
            </a:r>
            <a:r>
              <a:rPr lang="ko-KR" altLang="en-US"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수동</a:t>
            </a:r>
            <a:r>
              <a:rPr lang="ko-KR" altLang="en-US" sz="1100" dirty="0" err="1">
                <a:solidFill>
                  <a:srgbClr val="6B7280"/>
                </a:solidFill>
                <a:latin typeface="Menlo"/>
              </a:rPr>
              <a:t>으로</a:t>
            </a:r>
            <a:r>
              <a:rPr lang="ko-KR" altLang="en-US" sz="1100" dirty="0">
                <a:solidFill>
                  <a:srgbClr val="6B7280"/>
                </a:solidFill>
                <a:latin typeface="Menlo"/>
              </a:rPr>
              <a:t> 전파</a:t>
            </a:r>
            <a:endParaRPr sz="1100" dirty="0">
              <a:solidFill>
                <a:srgbClr val="6B7280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//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디버깅·스택트레이스는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비동기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흐름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따라다녀야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함</a:t>
            </a:r>
            <a:endParaRPr sz="1100" dirty="0">
              <a:solidFill>
                <a:srgbClr val="6B7280"/>
              </a:solidFill>
              <a:latin typeface="Menl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MVC + 버츄얼 스레드 국소 적용 (to-be)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6771" y="1920240"/>
            <a:ext cx="6104709" cy="4114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3931" y="1847088"/>
            <a:ext cx="6104709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 sz="1100" dirty="0">
              <a:solidFill>
                <a:srgbClr val="6B7280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private </a:t>
            </a:r>
            <a:r>
              <a:rPr sz="1100" dirty="0" err="1">
                <a:solidFill>
                  <a:srgbClr val="C084FC"/>
                </a:solidFill>
                <a:latin typeface="Menlo"/>
              </a:rPr>
              <a:t>val</a:t>
            </a:r>
            <a:r>
              <a:rPr sz="1100" dirty="0">
                <a:solidFill>
                  <a:srgbClr val="C084FC"/>
                </a:solidFill>
                <a:latin typeface="Menlo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Menlo"/>
              </a:rPr>
              <a:t>e</a:t>
            </a:r>
            <a:r>
              <a:rPr sz="1100" dirty="0">
                <a:solidFill>
                  <a:srgbClr val="FFFFFF"/>
                </a:solidFill>
                <a:latin typeface="Menlo"/>
              </a:rPr>
              <a:t>xecutor </a:t>
            </a:r>
            <a:r>
              <a:rPr sz="1100" dirty="0">
                <a:solidFill>
                  <a:srgbClr val="D1D5DB"/>
                </a:solidFill>
                <a:latin typeface="Menlo"/>
              </a:rPr>
              <a:t>=</a:t>
            </a:r>
            <a:r>
              <a:rPr lang="en-US" sz="1100" dirty="0">
                <a:solidFill>
                  <a:srgbClr val="D1D5DB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Executors.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newVirtualThreadPerTaskExecutor</a:t>
            </a:r>
            <a:r>
              <a:rPr sz="1100" dirty="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endParaRPr sz="1100" dirty="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fun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loadUser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(id: Long):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UserView</a:t>
            </a:r>
            <a:r>
              <a:rPr sz="1100" dirty="0">
                <a:solidFill>
                  <a:srgbClr val="D1D5DB"/>
                </a:solidFill>
                <a:latin typeface="Menlo"/>
              </a:rPr>
              <a:t> {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val</a:t>
            </a:r>
            <a:r>
              <a:rPr sz="1100" dirty="0">
                <a:solidFill>
                  <a:srgbClr val="FFFFFF"/>
                </a:solidFill>
                <a:latin typeface="Menlo"/>
              </a:rPr>
              <a:t> user  =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virtualThreadExecutor.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submit</a:t>
            </a:r>
            <a:r>
              <a:rPr sz="1100" dirty="0">
                <a:solidFill>
                  <a:srgbClr val="FFFFFF"/>
                </a:solidFill>
                <a:latin typeface="Menlo"/>
              </a:rPr>
              <a:t> {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userApi.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(id) }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val</a:t>
            </a:r>
            <a:r>
              <a:rPr sz="1100" dirty="0">
                <a:solidFill>
                  <a:srgbClr val="FFFFFF"/>
                </a:solidFill>
                <a:latin typeface="Menlo"/>
              </a:rPr>
              <a:t> order =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virtualThreadExecutor.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submit</a:t>
            </a:r>
            <a:r>
              <a:rPr sz="1100" dirty="0">
                <a:solidFill>
                  <a:srgbClr val="FFFFFF"/>
                </a:solidFill>
                <a:latin typeface="Menlo"/>
              </a:rPr>
              <a:t> {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orderApi.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(id) }</a:t>
            </a: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    return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UserView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user.get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(),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order.get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())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</a:t>
            </a:r>
          </a:p>
          <a:p>
            <a:pPr algn="l"/>
            <a:endParaRPr sz="1100" dirty="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//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익숙한</a:t>
            </a:r>
            <a:r>
              <a:rPr sz="1100" dirty="0">
                <a:solidFill>
                  <a:srgbClr val="6B7280"/>
                </a:solidFill>
                <a:latin typeface="Menlo"/>
              </a:rPr>
              <a:t> MVC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스타</a:t>
            </a:r>
            <a:r>
              <a:rPr lang="ko-KR" altLang="en-US" sz="1100" dirty="0">
                <a:solidFill>
                  <a:srgbClr val="6B7280"/>
                </a:solidFill>
                <a:latin typeface="Menlo"/>
              </a:rPr>
              <a:t>일</a:t>
            </a:r>
            <a:endParaRPr sz="1100" dirty="0">
              <a:solidFill>
                <a:srgbClr val="6B7280"/>
              </a:solidFill>
              <a:latin typeface="Menl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복잡도 ↓ + 익숙함 ↑ — </a:t>
            </a:r>
            <a:r>
              <a:rPr sz="1300" b="1" i="0">
                <a:solidFill>
                  <a:srgbClr val="34D399"/>
                </a:solidFill>
                <a:latin typeface="Pretendard"/>
              </a:rPr>
              <a:t>리액티브 전문성 없이도 작성·유지보수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단점 ② / 멜트다운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블로킹 I/O 한 줄에도 멜트다운이 발생한다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6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멜트다운이란?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7178"/>
            <a:ext cx="999308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" altLang="ko-KR" sz="1200" dirty="0" err="1">
                <a:solidFill>
                  <a:schemeClr val="bg1"/>
                </a:solidFill>
              </a:rPr>
              <a:t>WebFlux</a:t>
            </a:r>
            <a:r>
              <a:rPr lang="en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멜트다운은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이벤트 루프 스레드가 </a:t>
            </a:r>
            <a:r>
              <a:rPr lang="ko-KR" altLang="en-US" sz="1200" b="1" dirty="0" err="1">
                <a:solidFill>
                  <a:schemeClr val="bg1"/>
                </a:solidFill>
              </a:rPr>
              <a:t>블로킹되거나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과부하돼서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요청지연이 연쇄적으로 폭발하는 현상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chemeClr val="bg1"/>
              </a:solidFill>
              <a:latin typeface="Pretendard"/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이벤트 루프가 막히면 요청이 처리되지 못하고 </a:t>
            </a:r>
            <a:r>
              <a:rPr lang="ko-KR" altLang="en-US" sz="1200" b="1" dirty="0">
                <a:solidFill>
                  <a:schemeClr val="bg1"/>
                </a:solidFill>
              </a:rPr>
              <a:t>큐와 버퍼에 계속 쌓이면서 메모리가 급격히 증가</a:t>
            </a:r>
            <a:r>
              <a:rPr lang="ko-KR" altLang="en-US" sz="1200" dirty="0">
                <a:solidFill>
                  <a:schemeClr val="bg1"/>
                </a:solidFill>
              </a:rPr>
              <a:t>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결국 </a:t>
            </a:r>
            <a:r>
              <a:rPr lang="en" altLang="ko-KR" sz="1200" dirty="0">
                <a:solidFill>
                  <a:schemeClr val="bg1"/>
                </a:solidFill>
              </a:rPr>
              <a:t>GC </a:t>
            </a:r>
            <a:r>
              <a:rPr lang="ko-KR" altLang="en-US" sz="1200" dirty="0">
                <a:solidFill>
                  <a:schemeClr val="bg1"/>
                </a:solidFill>
              </a:rPr>
              <a:t>압박과 </a:t>
            </a:r>
            <a:r>
              <a:rPr lang="en" altLang="ko-KR" sz="1200" dirty="0">
                <a:solidFill>
                  <a:schemeClr val="bg1"/>
                </a:solidFill>
              </a:rPr>
              <a:t>OOME</a:t>
            </a:r>
            <a:r>
              <a:rPr lang="ko-KR" altLang="en-US" sz="1200" dirty="0" err="1">
                <a:solidFill>
                  <a:schemeClr val="bg1"/>
                </a:solidFill>
              </a:rPr>
              <a:t>으로</a:t>
            </a:r>
            <a:r>
              <a:rPr lang="ko-KR" altLang="en-US" sz="1200" dirty="0">
                <a:solidFill>
                  <a:schemeClr val="bg1"/>
                </a:solidFill>
              </a:rPr>
              <a:t> 이어질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sz="1200" b="0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623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시나리오: WebFlux 컨트롤러에서 Slack SDK(블로킹) 호출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4315097" cy="26517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4177937" cy="1523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@</a:t>
            </a:r>
            <a:r>
              <a:rPr sz="1100" dirty="0" err="1">
                <a:solidFill>
                  <a:srgbClr val="C084FC"/>
                </a:solidFill>
                <a:latin typeface="Menlo"/>
              </a:rPr>
              <a:t>RestController</a:t>
            </a:r>
            <a:endParaRPr sz="1100" dirty="0">
              <a:solidFill>
                <a:srgbClr val="C084FC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class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NotifyController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val</a:t>
            </a:r>
            <a:r>
              <a:rPr sz="1100" dirty="0">
                <a:solidFill>
                  <a:srgbClr val="D1D5DB"/>
                </a:solidFill>
                <a:latin typeface="Menlo"/>
              </a:rPr>
              <a:t> slack: </a:t>
            </a:r>
            <a:r>
              <a:rPr sz="1100" dirty="0">
                <a:solidFill>
                  <a:srgbClr val="60A5FA"/>
                </a:solidFill>
                <a:latin typeface="Menlo"/>
              </a:rPr>
              <a:t>Slack</a:t>
            </a:r>
            <a:r>
              <a:rPr sz="1100" dirty="0">
                <a:solidFill>
                  <a:srgbClr val="D1D5DB"/>
                </a:solidFill>
                <a:latin typeface="Menlo"/>
              </a:rPr>
              <a:t>) {</a:t>
            </a: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    @</a:t>
            </a:r>
            <a:r>
              <a:rPr sz="1100" dirty="0" err="1">
                <a:solidFill>
                  <a:srgbClr val="C084FC"/>
                </a:solidFill>
                <a:latin typeface="Menlo"/>
              </a:rPr>
              <a:t>GetMapping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>
                <a:solidFill>
                  <a:srgbClr val="FBBF24"/>
                </a:solidFill>
                <a:latin typeface="Menlo"/>
              </a:rPr>
              <a:t>"/notify"</a:t>
            </a:r>
            <a:r>
              <a:rPr sz="1100" dirty="0">
                <a:solidFill>
                  <a:srgbClr val="D1D5DB"/>
                </a:solidFill>
                <a:latin typeface="Menlo"/>
              </a:rPr>
              <a:t>)</a:t>
            </a: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    fun </a:t>
            </a:r>
            <a:r>
              <a:rPr sz="1100" dirty="0">
                <a:solidFill>
                  <a:srgbClr val="60A5FA"/>
                </a:solidFill>
                <a:latin typeface="Menlo"/>
              </a:rPr>
              <a:t>notify</a:t>
            </a:r>
            <a:r>
              <a:rPr sz="1100" dirty="0">
                <a:solidFill>
                  <a:srgbClr val="D1D5DB"/>
                </a:solidFill>
                <a:latin typeface="Menlo"/>
              </a:rPr>
              <a:t>(): </a:t>
            </a:r>
            <a:r>
              <a:rPr sz="1100" dirty="0">
                <a:solidFill>
                  <a:srgbClr val="60A5FA"/>
                </a:solidFill>
                <a:latin typeface="Menlo"/>
              </a:rPr>
              <a:t>Mono</a:t>
            </a:r>
            <a:r>
              <a:rPr sz="1100" dirty="0">
                <a:solidFill>
                  <a:srgbClr val="D1D5DB"/>
                </a:solidFill>
                <a:latin typeface="Menlo"/>
              </a:rPr>
              <a:t>&lt;String&gt; {</a:t>
            </a: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        // Slack Java SDK — </a:t>
            </a:r>
            <a:r>
              <a:rPr sz="1100" dirty="0" err="1">
                <a:solidFill>
                  <a:srgbClr val="F87171"/>
                </a:solidFill>
                <a:latin typeface="Menlo"/>
              </a:rPr>
              <a:t>동기</a:t>
            </a:r>
            <a:r>
              <a:rPr sz="1100" dirty="0">
                <a:solidFill>
                  <a:srgbClr val="F87171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F87171"/>
                </a:solidFill>
                <a:latin typeface="Menlo"/>
              </a:rPr>
              <a:t>블로킹</a:t>
            </a:r>
            <a:r>
              <a:rPr sz="1100" dirty="0">
                <a:solidFill>
                  <a:srgbClr val="F87171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F87171"/>
                </a:solidFill>
                <a:latin typeface="Menlo"/>
              </a:rPr>
              <a:t>호출</a:t>
            </a:r>
            <a:endParaRPr sz="1100" dirty="0">
              <a:solidFill>
                <a:srgbClr val="F87171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slack.methods</a:t>
            </a:r>
            <a:r>
              <a:rPr sz="1100" dirty="0">
                <a:solidFill>
                  <a:srgbClr val="FFFFFF"/>
                </a:solidFill>
                <a:latin typeface="Menlo"/>
              </a:rPr>
              <a:t>().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chatPostMessage</a:t>
            </a:r>
            <a:r>
              <a:rPr sz="1100" dirty="0">
                <a:solidFill>
                  <a:srgbClr val="D1D5DB"/>
                </a:solidFill>
                <a:latin typeface="Menlo"/>
              </a:rPr>
              <a:t> { ... }</a:t>
            </a: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        return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Mono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just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>
                <a:solidFill>
                  <a:srgbClr val="FBBF24"/>
                </a:solidFill>
                <a:latin typeface="Menlo"/>
              </a:rPr>
              <a:t>"ok"</a:t>
            </a:r>
            <a:r>
              <a:rPr sz="1100" dirty="0">
                <a:solidFill>
                  <a:srgbClr val="D1D5DB"/>
                </a:solidFill>
                <a:latin typeface="Menlo"/>
              </a:rPr>
              <a:t>)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    }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외부 API 한 곳의 지연이 </a:t>
            </a:r>
            <a:r>
              <a:rPr sz="1300" b="1" i="0">
                <a:solidFill>
                  <a:srgbClr val="F87171"/>
                </a:solidFill>
                <a:latin typeface="Pretendard"/>
              </a:rPr>
              <a:t>서비스 전체 응답을 멈춘다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 — "논블로킹 규율"이 깨지는 순간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757340C-186D-8956-D8D1-C6565A6A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306" y="3514313"/>
            <a:ext cx="6535660" cy="2292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29BDF-A7B3-A0D5-DF99-945612CA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1EEE0-68BF-E176-F52D-CFA2ECB17EF2}"/>
              </a:ext>
            </a:extLst>
          </p:cNvPr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단점 ② / 멜트다운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79916-7CED-5CD2-371A-45B97B21247D}"/>
              </a:ext>
            </a:extLst>
          </p:cNvPr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 err="1">
                <a:solidFill>
                  <a:srgbClr val="FFFFFF"/>
                </a:solidFill>
                <a:latin typeface="Pretendard"/>
              </a:rPr>
              <a:t>멜트다운을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해결하기 위해 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7C585-ED36-CFB3-9481-D18FFDF24CAC}"/>
              </a:ext>
            </a:extLst>
          </p:cNvPr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6 / 28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7B6C79-204F-8831-D6CC-D52F8BD10E77}"/>
              </a:ext>
            </a:extLst>
          </p:cNvPr>
          <p:cNvSpPr/>
          <p:nvPr/>
        </p:nvSpPr>
        <p:spPr>
          <a:xfrm>
            <a:off x="640080" y="15544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2AA34-E80F-51CB-598B-343076260B10}"/>
              </a:ext>
            </a:extLst>
          </p:cNvPr>
          <p:cNvSpPr txBox="1"/>
          <p:nvPr/>
        </p:nvSpPr>
        <p:spPr>
          <a:xfrm>
            <a:off x="777240" y="1862019"/>
            <a:ext cx="110185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</a:rPr>
              <a:t>멜트다운을</a:t>
            </a:r>
            <a:r>
              <a:rPr lang="ko-KR" altLang="en-US" sz="1400" dirty="0">
                <a:solidFill>
                  <a:schemeClr val="bg1"/>
                </a:solidFill>
              </a:rPr>
              <a:t> 피하려면 </a:t>
            </a:r>
            <a:r>
              <a:rPr lang="en" altLang="ko-KR" sz="1400" dirty="0" err="1">
                <a:solidFill>
                  <a:schemeClr val="bg1"/>
                </a:solidFill>
              </a:rPr>
              <a:t>boundedElastic</a:t>
            </a:r>
            <a:r>
              <a:rPr lang="en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같은 별도 스레드 풀에 블로킹 호출을 </a:t>
            </a:r>
            <a:r>
              <a:rPr lang="ko-KR" altLang="en-US" sz="1400" dirty="0" err="1">
                <a:solidFill>
                  <a:schemeClr val="bg1"/>
                </a:solidFill>
              </a:rPr>
              <a:t>오프로드할</a:t>
            </a:r>
            <a:r>
              <a:rPr lang="ko-KR" altLang="en-US" sz="1400" dirty="0">
                <a:solidFill>
                  <a:schemeClr val="bg1"/>
                </a:solidFill>
              </a:rPr>
              <a:t> 수 있다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그러나 그 풀은 플랫폼 스레드 기반이라 스레드를 계속 늘려야 하고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 결국 </a:t>
            </a:r>
            <a:r>
              <a:rPr lang="en-US" altLang="ko-KR" sz="1400" dirty="0">
                <a:solidFill>
                  <a:schemeClr val="bg1"/>
                </a:solidFill>
              </a:rPr>
              <a:t>"</a:t>
            </a:r>
            <a:r>
              <a:rPr lang="ko-KR" altLang="en-US" sz="1400" dirty="0">
                <a:solidFill>
                  <a:schemeClr val="bg1"/>
                </a:solidFill>
              </a:rPr>
              <a:t>스레드를 효율적으로 사용</a:t>
            </a:r>
            <a:r>
              <a:rPr lang="en-US" altLang="ko-KR" sz="1400" dirty="0">
                <a:solidFill>
                  <a:schemeClr val="bg1"/>
                </a:solidFill>
              </a:rPr>
              <a:t>"</a:t>
            </a:r>
            <a:r>
              <a:rPr lang="ko-KR" altLang="en-US" sz="1400" dirty="0">
                <a:solidFill>
                  <a:schemeClr val="bg1"/>
                </a:solidFill>
              </a:rPr>
              <a:t>이라는 </a:t>
            </a:r>
            <a:r>
              <a:rPr lang="en" altLang="ko-KR" sz="1400" dirty="0" err="1">
                <a:solidFill>
                  <a:schemeClr val="bg1"/>
                </a:solidFill>
              </a:rPr>
              <a:t>WebFlux</a:t>
            </a:r>
            <a:r>
              <a:rPr lang="en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본래의 장점이 희석된다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sz="1400" b="0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F60EA6-D7F9-E5D2-FF83-56A6A41C056A}"/>
              </a:ext>
            </a:extLst>
          </p:cNvPr>
          <p:cNvSpPr/>
          <p:nvPr/>
        </p:nvSpPr>
        <p:spPr>
          <a:xfrm>
            <a:off x="640080" y="3383280"/>
            <a:ext cx="11018520" cy="26517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5995FD-4F58-DD25-71EA-A9B12DF64973}"/>
              </a:ext>
            </a:extLst>
          </p:cNvPr>
          <p:cNvSpPr txBox="1"/>
          <p:nvPr/>
        </p:nvSpPr>
        <p:spPr>
          <a:xfrm>
            <a:off x="777240" y="3493008"/>
            <a:ext cx="10230394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Menlo"/>
              </a:rPr>
              <a:t>@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GetMapping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("/notify")</a:t>
            </a:r>
          </a:p>
          <a:p>
            <a:r>
              <a:rPr lang="en" sz="1600" dirty="0">
                <a:solidFill>
                  <a:schemeClr val="bg1"/>
                </a:solidFill>
                <a:latin typeface="Menlo"/>
              </a:rPr>
              <a:t>  fun notify(): Mono&lt;String&gt; =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</a:t>
            </a:r>
            <a:endParaRPr lang="en-US" altLang="ko-KR" sz="1600" dirty="0">
              <a:solidFill>
                <a:schemeClr val="bg1"/>
              </a:solidFill>
              <a:latin typeface="Menlo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     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Mono.fromCallable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 { 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slack.methods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().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chatPostMessage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 { ... } } 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//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블로킹 호출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         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.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subscribeOn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(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Schedulers.boundedElastic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()) // 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이벤트 루프 </a:t>
            </a:r>
            <a:r>
              <a:rPr lang="ko-KR" altLang="en-US" sz="1600" dirty="0" err="1">
                <a:solidFill>
                  <a:schemeClr val="bg1"/>
                </a:solidFill>
                <a:latin typeface="Menlo"/>
              </a:rPr>
              <a:t>아닌별도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풀에서 실행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          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.</a:t>
            </a:r>
            <a:r>
              <a:rPr lang="en" sz="1600" dirty="0" err="1">
                <a:solidFill>
                  <a:schemeClr val="bg1"/>
                </a:solidFill>
                <a:latin typeface="Menlo"/>
              </a:rPr>
              <a:t>thenReturn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("ok”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)</a:t>
            </a:r>
          </a:p>
          <a:p>
            <a:endParaRPr lang="en-US" sz="1600" dirty="0">
              <a:solidFill>
                <a:schemeClr val="bg1"/>
              </a:solidFill>
              <a:latin typeface="Menlo"/>
            </a:endParaRPr>
          </a:p>
          <a:p>
            <a:endParaRPr lang="en" sz="1600" dirty="0">
              <a:solidFill>
                <a:schemeClr val="bg1"/>
              </a:solidFill>
              <a:latin typeface="Menlo"/>
            </a:endParaRPr>
          </a:p>
          <a:p>
            <a:r>
              <a:rPr lang="en" sz="1600" dirty="0" err="1">
                <a:solidFill>
                  <a:schemeClr val="bg1"/>
                </a:solidFill>
                <a:latin typeface="Menlo"/>
              </a:rPr>
              <a:t>boundedElastic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은 기본적으로 </a:t>
            </a:r>
            <a:r>
              <a:rPr lang="en" sz="1600" dirty="0">
                <a:solidFill>
                  <a:schemeClr val="bg1"/>
                </a:solidFill>
                <a:latin typeface="Menlo"/>
              </a:rPr>
              <a:t>CPU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수 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× 10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개 스레드 상한 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+ 10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만개 작업 큐를 가진 풀이라 이벤트 루프는 안 막히지만</a:t>
            </a:r>
            <a:r>
              <a:rPr lang="en-US" altLang="ko-KR" sz="1600" dirty="0">
                <a:solidFill>
                  <a:schemeClr val="bg1"/>
                </a:solidFill>
                <a:latin typeface="Menlo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Menlo"/>
              </a:rPr>
              <a:t>그 풀 자체는 플랫폼 스레드라 동시 블로킹 호출 수만큼 스레드를 쌓게 됩니다</a:t>
            </a:r>
            <a:endParaRPr sz="1600" dirty="0">
              <a:solidFill>
                <a:schemeClr val="bg1"/>
              </a:solidFill>
              <a:latin typeface="Menlo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AA5C96-3B33-66FA-241D-FA1BC378FDF1}"/>
              </a:ext>
            </a:extLst>
          </p:cNvPr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3184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단점 ③ / 생태계 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논블로킹 클라이언트만 써야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7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1201400" cy="10515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왜?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단점 ②(멜트다운) 때문에 블로킹 한 줄도 허용되지 않는다. 모든 외부 I/O를 논블로킹으로 통일해야 한다 → 쓸 수 있는 라이브러리가 제한된다.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써야 하는 것 — 논블로킹 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838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WebClient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5021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HTTP 호출 (Spring)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2394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reactive-feign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1422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Feign을 리액티브로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6402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R2DBC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823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DB 접근 — JDBC 대체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0410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Reactor Kafka / RabbitMQ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42239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메시징 리액티브 드라이버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83464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9443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쓸 수 없는 것 — 블로킹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29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48386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JDBC · Spring Data JPA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502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팀이 쓰던 DB 스택 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1239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OkHttp · Apache HttpClient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422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일반 HTTP 클라이언트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09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7640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일반 Feign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7823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논블로킹 버전으로 이관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349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40410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각종 블로킹 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422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Slack SDK 등 대부분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결국 </a:t>
            </a:r>
            <a:r>
              <a:rPr sz="1300" b="1" i="0">
                <a:solidFill>
                  <a:srgbClr val="F87171"/>
                </a:solidFill>
                <a:latin typeface="Pretendard"/>
              </a:rPr>
              <a:t>팀에 익숙한 JVM 블로킹 생태계를 통째로 포기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하고 리액티브 전용 스택으로 이주해야 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그럼 버츄얼 스레드로 해결할 수 있을까?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9CA3AF"/>
                </a:solidFill>
                <a:latin typeface="Pretendard"/>
              </a:rPr>
              <a:t>지금까지 본 WebFlux의 세 가지 단점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F87171"/>
                </a:solidFill>
                <a:latin typeface="Pretendard"/>
              </a:rPr>
              <a:t>단점</a:t>
            </a:r>
            <a:r>
              <a:rPr sz="1200" b="1" dirty="0">
                <a:solidFill>
                  <a:srgbClr val="F87171"/>
                </a:solidFill>
                <a:latin typeface="Pretendard"/>
              </a:rPr>
              <a:t> </a:t>
            </a:r>
            <a:r>
              <a:rPr lang="en-US" altLang="ko-KR" sz="1200" b="1" dirty="0">
                <a:solidFill>
                  <a:srgbClr val="F87171"/>
                </a:solidFill>
                <a:latin typeface="Pretendard"/>
              </a:rPr>
              <a:t>①</a:t>
            </a:r>
            <a:endParaRPr sz="1200" b="1" dirty="0">
              <a:solidFill>
                <a:srgbClr val="F87171"/>
              </a:solidFill>
              <a:latin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22585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FFFFFF"/>
                </a:solidFill>
                <a:latin typeface="Pretendard"/>
              </a:rPr>
              <a:t>복잡도</a:t>
            </a:r>
            <a:r>
              <a:rPr sz="1500" b="1" dirty="0">
                <a:solidFill>
                  <a:srgbClr val="FFFFFF"/>
                </a:solidFill>
                <a:latin typeface="Pretendard"/>
              </a:rPr>
              <a:t>·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/>
              </a:rPr>
              <a:t>익</a:t>
            </a:r>
            <a:r>
              <a:rPr sz="1500" b="1" dirty="0" err="1">
                <a:solidFill>
                  <a:srgbClr val="FFFFFF"/>
                </a:solidFill>
                <a:latin typeface="Pretendard"/>
              </a:rPr>
              <a:t>숙함</a:t>
            </a:r>
            <a:endParaRPr sz="15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715768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D1D5DB"/>
                </a:solidFill>
                <a:latin typeface="Pretendard"/>
              </a:rPr>
              <a:t>리액티브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전문성을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아는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소수만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손댈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수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있음</a:t>
            </a:r>
            <a:r>
              <a:rPr lang="ko-KR" altLang="en-US"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1200" b="0" dirty="0">
                <a:solidFill>
                  <a:srgbClr val="D1D5DB"/>
                </a:solidFill>
                <a:latin typeface="Pretendard"/>
              </a:rPr>
              <a:t>-&gt;</a:t>
            </a:r>
            <a:r>
              <a:rPr lang="ko-KR" altLang="en-US"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/>
              </a:rPr>
              <a:t>스프링 </a:t>
            </a:r>
            <a:r>
              <a:rPr lang="en-US" altLang="ko-KR" sz="1200" dirty="0">
                <a:solidFill>
                  <a:srgbClr val="D1D5DB"/>
                </a:solidFill>
                <a:latin typeface="Pretendard"/>
              </a:rPr>
              <a:t>MVC</a:t>
            </a:r>
            <a:r>
              <a:rPr lang="ko-KR" altLang="en-US" sz="1200" dirty="0">
                <a:solidFill>
                  <a:srgbClr val="D1D5DB"/>
                </a:solidFill>
                <a:latin typeface="Pretendard"/>
              </a:rPr>
              <a:t>로 해결</a:t>
            </a:r>
            <a:endParaRPr sz="12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단점 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4930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멜트다운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020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블로킹 한 줄에 이벤트 루프 전체가 막힘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단점 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7274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생태계 제약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8464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JDBC·블로킹 라이브러리 사용 불가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828800"/>
            <a:ext cx="5166360" cy="3931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14600"/>
            <a:ext cx="47548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2,3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을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버츄얼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스레드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가
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해결할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수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있을까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754880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60A5FA"/>
                </a:solidFill>
                <a:latin typeface="Pretendard"/>
              </a:rPr>
              <a:t>→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우선</a:t>
            </a:r>
            <a:r>
              <a:rPr sz="14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버츄얼</a:t>
            </a:r>
            <a:r>
              <a:rPr sz="14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스레드가</a:t>
            </a:r>
            <a:r>
              <a:rPr lang="ko-KR" altLang="en-US" sz="140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어떻게</a:t>
            </a:r>
            <a:r>
              <a:rPr sz="14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동작하는지</a:t>
            </a:r>
            <a:r>
              <a:rPr sz="1400" b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0A5FA"/>
                </a:solidFill>
                <a:latin typeface="Pretendard"/>
              </a:rPr>
              <a:t>알아보자</a:t>
            </a:r>
            <a:endParaRPr sz="1400" b="0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B620E-F7A7-B19B-A43E-1AF2FD26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42915F-6CC1-5840-DE16-ADC1A7804DC0}"/>
              </a:ext>
            </a:extLst>
          </p:cNvPr>
          <p:cNvSpPr txBox="1"/>
          <p:nvPr/>
        </p:nvSpPr>
        <p:spPr>
          <a:xfrm>
            <a:off x="4529975" y="336133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플랫폼 스레드 문제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1270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버츄얼 스레드 원리 ① /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플랫폼 스레드는 비싸다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9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9CA3AF"/>
                </a:solidFill>
                <a:latin typeface="Pretendard"/>
              </a:rPr>
              <a:t>네이티브 </a:t>
            </a:r>
            <a:r>
              <a:rPr sz="1200" b="0" dirty="0" err="1">
                <a:solidFill>
                  <a:srgbClr val="9CA3AF"/>
                </a:solidFill>
                <a:latin typeface="Pretendard"/>
              </a:rPr>
              <a:t>스택</a:t>
            </a:r>
            <a:r>
              <a:rPr sz="12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9CA3AF"/>
                </a:solidFill>
                <a:latin typeface="Pretendard"/>
              </a:rPr>
              <a:t>메모리</a:t>
            </a:r>
            <a:endParaRPr sz="12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3200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FBBF24"/>
                </a:solidFill>
                <a:latin typeface="Pretendard"/>
              </a:rPr>
              <a:t>~1MB</a:t>
            </a:r>
            <a:r>
              <a:rPr lang="ko-KR" altLang="en-US" sz="2200" b="1" dirty="0">
                <a:solidFill>
                  <a:srgbClr val="FBBF24"/>
                </a:solidFill>
                <a:latin typeface="Pretendard"/>
              </a:rPr>
              <a:t> 할당</a:t>
            </a:r>
            <a:r>
              <a:rPr sz="2200" b="1" dirty="0">
                <a:solidFill>
                  <a:srgbClr val="FBBF24"/>
                </a:solidFill>
                <a:latin typeface="Pretendard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CA3AF"/>
                </a:solidFill>
                <a:latin typeface="Pretendard"/>
              </a:rPr>
              <a:t>OS </a:t>
            </a:r>
            <a:r>
              <a:rPr sz="1200" b="0" dirty="0" err="1">
                <a:solidFill>
                  <a:srgbClr val="9CA3AF"/>
                </a:solidFill>
                <a:latin typeface="Pretendard"/>
              </a:rPr>
              <a:t>스레드</a:t>
            </a:r>
            <a:r>
              <a:rPr lang="ko-KR" altLang="en-US" sz="1200" b="0" dirty="0">
                <a:solidFill>
                  <a:srgbClr val="9CA3AF"/>
                </a:solidFill>
                <a:latin typeface="Pretendard"/>
              </a:rPr>
              <a:t>  생성 비용</a:t>
            </a:r>
            <a:endParaRPr sz="12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45643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FBBF24"/>
                </a:solidFill>
                <a:latin typeface="Pretendard"/>
              </a:rPr>
              <a:t>1:1 </a:t>
            </a:r>
            <a:r>
              <a:rPr sz="2200" b="1" dirty="0" err="1">
                <a:solidFill>
                  <a:srgbClr val="FBBF24"/>
                </a:solidFill>
                <a:latin typeface="Pretendard"/>
              </a:rPr>
              <a:t>매핑</a:t>
            </a:r>
            <a:endParaRPr sz="2200" b="1" dirty="0">
              <a:solidFill>
                <a:srgbClr val="FBBF24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0" y="3337560"/>
            <a:ext cx="41148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D1D5DB"/>
                </a:solidFill>
                <a:latin typeface="Pretendard"/>
              </a:rPr>
              <a:t>OS 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커널에 등록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,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스케즐러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큐 넣음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.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시스템 콜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,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메모리 할당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,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커널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잘구조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초기화등으로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인해 일반 객체 생성</a:t>
            </a:r>
            <a:endParaRPr lang="en-US" altLang="ko-KR" sz="1300" dirty="0">
              <a:solidFill>
                <a:srgbClr val="D1D5DB"/>
              </a:solidFill>
              <a:latin typeface="Pretendard"/>
            </a:endParaRPr>
          </a:p>
          <a:p>
            <a:pPr algn="l"/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보다 훨씬 느리고 무거운 작업</a:t>
            </a:r>
            <a:endParaRPr sz="13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Pretendard"/>
              </a:rPr>
              <a:t>컨텍스트 스위칭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3200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FBBF24"/>
                </a:solidFill>
                <a:latin typeface="Pretendard"/>
              </a:rPr>
              <a:t>수 </a:t>
            </a:r>
            <a:r>
              <a:rPr lang="ko-KR" altLang="en-US" sz="2200" b="1" dirty="0" err="1">
                <a:solidFill>
                  <a:srgbClr val="FBBF24"/>
                </a:solidFill>
                <a:latin typeface="Pretendard"/>
              </a:rPr>
              <a:t>마이크로초</a:t>
            </a:r>
            <a:r>
              <a:rPr lang="ko-KR" altLang="en-US" sz="2200" b="1" dirty="0">
                <a:solidFill>
                  <a:srgbClr val="FBBF24"/>
                </a:solidFill>
                <a:latin typeface="Pretendard"/>
              </a:rPr>
              <a:t> 걸림</a:t>
            </a:r>
            <a:endParaRPr sz="2200" b="1" dirty="0">
              <a:solidFill>
                <a:srgbClr val="FBBF24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4526280"/>
            <a:ext cx="4114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D1D5DB"/>
                </a:solidFill>
                <a:latin typeface="Pretendard"/>
              </a:rPr>
              <a:t>OS 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스레드 생성 비용으로 인한 컨텍스트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스위칭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비용</a:t>
            </a:r>
            <a:endParaRPr sz="13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95360" y="1828800"/>
            <a:ext cx="3200400" cy="34747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FBBF24"/>
                </a:solidFill>
                <a:latin typeface="Pretendard"/>
              </a:rPr>
              <a:t>수천 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206240"/>
            <a:ext cx="29260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 err="1">
                <a:solidFill>
                  <a:srgbClr val="D1D5DB"/>
                </a:solidFill>
                <a:latin typeface="Pretendard"/>
              </a:rPr>
              <a:t>메모리·컨텍스트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스위</a:t>
            </a:r>
            <a:r>
              <a:rPr lang="ko-KR" altLang="en-US" sz="1200" b="0" dirty="0" err="1">
                <a:solidFill>
                  <a:srgbClr val="D1D5DB"/>
                </a:solidFill>
                <a:latin typeface="Pretendard"/>
              </a:rPr>
              <a:t>칭으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로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비용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급증</a:t>
            </a:r>
            <a:endParaRPr sz="1200" b="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플랫폼 스레드 1개 = OS 스레드 1개 = </a:t>
            </a:r>
            <a:r>
              <a:rPr sz="1300" b="1" i="0">
                <a:solidFill>
                  <a:srgbClr val="FBBF24"/>
                </a:solidFill>
                <a:latin typeface="Pretendard"/>
              </a:rPr>
              <a:t>비싼 자원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버츄얼 스레드 원리 ② / 문제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플랫폼 스레드 </a:t>
            </a:r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-&gt;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수만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개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요청이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동시에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들어오면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10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94360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REQUESTS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353312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792224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2231136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70048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08960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47872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3986784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25696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64608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42432" y="22860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53312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792224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31136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70048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08960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47872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3986784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425696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64608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03520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42432" y="278892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1353312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1792224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2231136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70048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3108960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47872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3986784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4425696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4864608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03520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5742432" y="329184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1353312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1792224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31136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Oval 46"/>
          <p:cNvSpPr/>
          <p:nvPr/>
        </p:nvSpPr>
        <p:spPr>
          <a:xfrm>
            <a:off x="2670048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3108960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3547872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3986784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4425696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4864608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5303520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5742432" y="379476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53312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1792224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31136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Oval 58"/>
          <p:cNvSpPr/>
          <p:nvPr/>
        </p:nvSpPr>
        <p:spPr>
          <a:xfrm>
            <a:off x="2670048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3108960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3547872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Oval 61"/>
          <p:cNvSpPr/>
          <p:nvPr/>
        </p:nvSpPr>
        <p:spPr>
          <a:xfrm>
            <a:off x="3986784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4425696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4864608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5303520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Oval 65"/>
          <p:cNvSpPr/>
          <p:nvPr/>
        </p:nvSpPr>
        <p:spPr>
          <a:xfrm>
            <a:off x="5742432" y="429768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Oval 66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Oval 67"/>
          <p:cNvSpPr/>
          <p:nvPr/>
        </p:nvSpPr>
        <p:spPr>
          <a:xfrm>
            <a:off x="1353312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92224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31136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Oval 70"/>
          <p:cNvSpPr/>
          <p:nvPr/>
        </p:nvSpPr>
        <p:spPr>
          <a:xfrm>
            <a:off x="2670048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Oval 71"/>
          <p:cNvSpPr/>
          <p:nvPr/>
        </p:nvSpPr>
        <p:spPr>
          <a:xfrm>
            <a:off x="3108960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Oval 72"/>
          <p:cNvSpPr/>
          <p:nvPr/>
        </p:nvSpPr>
        <p:spPr>
          <a:xfrm>
            <a:off x="3547872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86784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Oval 74"/>
          <p:cNvSpPr/>
          <p:nvPr/>
        </p:nvSpPr>
        <p:spPr>
          <a:xfrm>
            <a:off x="4425696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Oval 75"/>
          <p:cNvSpPr/>
          <p:nvPr/>
        </p:nvSpPr>
        <p:spPr>
          <a:xfrm>
            <a:off x="4864608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Oval 76"/>
          <p:cNvSpPr/>
          <p:nvPr/>
        </p:nvSpPr>
        <p:spPr>
          <a:xfrm>
            <a:off x="5303520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Oval 77"/>
          <p:cNvSpPr/>
          <p:nvPr/>
        </p:nvSpPr>
        <p:spPr>
          <a:xfrm>
            <a:off x="5742432" y="4800600"/>
            <a:ext cx="365760" cy="365760"/>
          </a:xfrm>
          <a:prstGeom prst="ellipse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960" y="5577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Pretendard"/>
              </a:rPr>
              <a:t>… 수만 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Pretendard"/>
              </a:rPr>
              <a:t>PLATFORM THREADS (제한적)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766560" y="21945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903720" y="2286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T1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ECACA"/>
                </a:solidFill>
                <a:latin typeface="Pretendard"/>
              </a:rPr>
              <a:t>blocked on I/O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766560" y="28803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903720" y="29718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T2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80960" y="29718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ECACA"/>
                </a:solidFill>
                <a:latin typeface="Pretendard"/>
              </a:rPr>
              <a:t>blocked on I/O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766560" y="35661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03720" y="36576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T3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80960" y="3657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ECACA"/>
                </a:solidFill>
                <a:latin typeface="Pretendard"/>
              </a:rPr>
              <a:t>blocked on I/O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66560" y="42519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03720" y="43434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etendard"/>
              </a:rPr>
              <a:t>T4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3434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ECACA"/>
                </a:solidFill>
                <a:latin typeface="Pretendard"/>
              </a:rPr>
              <a:t>blocked on I/O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766560" y="5120640"/>
            <a:ext cx="4846320" cy="777240"/>
          </a:xfrm>
          <a:prstGeom prst="roundRect">
            <a:avLst>
              <a:gd name="adj" fmla="val 8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03720" y="5257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나머지 요청 = 풀 대기 / OOM / Timeout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02920" y="6369352"/>
            <a:ext cx="11155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dirty="0">
                <a:solidFill>
                  <a:srgbClr val="D1D5DB"/>
                </a:solidFill>
                <a:latin typeface="Pretendard"/>
              </a:rPr>
              <a:t>CPU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가 처리할 수 있는 한계를 넘어서면 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Thread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가 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Queue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에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쌓이게되고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결국 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Timeout, OOME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등 발생 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-&gt;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1300" dirty="0" err="1">
                <a:solidFill>
                  <a:srgbClr val="D1D5DB"/>
                </a:solidFill>
                <a:latin typeface="Pretendard"/>
              </a:rPr>
              <a:t>WebFlux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를</a:t>
            </a:r>
            <a:r>
              <a:rPr lang="ko-KR" altLang="en-US" sz="1300" dirty="0">
                <a:solidFill>
                  <a:srgbClr val="D1D5DB"/>
                </a:solidFill>
                <a:latin typeface="Pretendard"/>
              </a:rPr>
              <a:t> 사용한 </a:t>
            </a:r>
            <a:r>
              <a:rPr lang="ko-KR" altLang="en-US" sz="1300" dirty="0" err="1">
                <a:solidFill>
                  <a:srgbClr val="D1D5DB"/>
                </a:solidFill>
                <a:latin typeface="Pretendard"/>
              </a:rPr>
              <a:t>이유이기도함</a:t>
            </a:r>
            <a:r>
              <a:rPr lang="en-US" altLang="ko-KR" sz="1300" dirty="0">
                <a:solidFill>
                  <a:srgbClr val="D1D5DB"/>
                </a:solidFill>
                <a:latin typeface="Pretendard"/>
              </a:rPr>
              <a:t>.</a:t>
            </a:r>
            <a:endParaRPr sz="1300" b="0" i="0" dirty="0">
              <a:solidFill>
                <a:srgbClr val="D1D5DB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CBF1B-365A-435D-65BF-01C20C5E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9DCFA4-999E-F632-BBD2-BB571DD27F0D}"/>
              </a:ext>
            </a:extLst>
          </p:cNvPr>
          <p:cNvSpPr txBox="1"/>
          <p:nvPr/>
        </p:nvSpPr>
        <p:spPr>
          <a:xfrm>
            <a:off x="4871721" y="3342865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Virtual Thread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93D3D-61CA-CA5C-AAA4-32A7DF1DCA23}"/>
              </a:ext>
            </a:extLst>
          </p:cNvPr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63342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E99BA-E385-C383-5026-CD0C7751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4E1B6-D198-3ACE-F28F-BA4BAE25FE8A}"/>
              </a:ext>
            </a:extLst>
          </p:cNvPr>
          <p:cNvSpPr txBox="1"/>
          <p:nvPr/>
        </p:nvSpPr>
        <p:spPr>
          <a:xfrm>
            <a:off x="512157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버츄얼 스레드 원리 ③ / 정체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85AEA-5FBD-FD6D-0C3F-96154D0EFA2D}"/>
              </a:ext>
            </a:extLst>
          </p:cNvPr>
          <p:cNvSpPr txBox="1"/>
          <p:nvPr/>
        </p:nvSpPr>
        <p:spPr>
          <a:xfrm>
            <a:off x="512157" y="74980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Continuation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83DE6-9711-D7E3-B61E-150954E69C17}"/>
              </a:ext>
            </a:extLst>
          </p:cNvPr>
          <p:cNvSpPr txBox="1"/>
          <p:nvPr/>
        </p:nvSpPr>
        <p:spPr>
          <a:xfrm>
            <a:off x="11256357" y="65836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11 / 28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4B1BCF-FEF7-F53D-BBE6-7DADD79EC3D2}"/>
              </a:ext>
            </a:extLst>
          </p:cNvPr>
          <p:cNvSpPr/>
          <p:nvPr/>
        </p:nvSpPr>
        <p:spPr>
          <a:xfrm>
            <a:off x="586740" y="1719072"/>
            <a:ext cx="1101852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rgbClr val="60A5FA"/>
              </a:solidFill>
              <a:latin typeface="Pretendard"/>
            </a:endParaRPr>
          </a:p>
          <a:p>
            <a:endParaRPr lang="ko-KR" altLang="en-US" b="1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E9D75-EA8E-4803-F023-70DED8F168D2}"/>
              </a:ext>
            </a:extLst>
          </p:cNvPr>
          <p:cNvSpPr txBox="1"/>
          <p:nvPr/>
        </p:nvSpPr>
        <p:spPr>
          <a:xfrm>
            <a:off x="832196" y="3913632"/>
            <a:ext cx="1033456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" b="1" dirty="0">
                <a:solidFill>
                  <a:srgbClr val="60A5FA"/>
                </a:solidFill>
                <a:latin typeface="Pretendard"/>
              </a:rPr>
              <a:t>Continuation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이란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?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 </a:t>
            </a:r>
            <a:endParaRPr lang="en-US" altLang="ko-KR" b="1" dirty="0">
              <a:solidFill>
                <a:srgbClr val="60A5FA"/>
              </a:solidFill>
              <a:latin typeface="Pretendard"/>
            </a:endParaRPr>
          </a:p>
          <a:p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{}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 블록의 스택 프레임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(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로컬변수 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+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 실행위치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)</a:t>
            </a:r>
            <a:r>
              <a:rPr lang="ko-KR" altLang="en-US" b="1" dirty="0" err="1">
                <a:solidFill>
                  <a:srgbClr val="60A5FA"/>
                </a:solidFill>
                <a:latin typeface="Pretendard"/>
              </a:rPr>
              <a:t>를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 통째로 담은 객체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.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 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A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와 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B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는 각자의 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Continuation</a:t>
            </a:r>
            <a:r>
              <a:rPr lang="ko-KR" altLang="en-US" b="1" dirty="0">
                <a:solidFill>
                  <a:srgbClr val="60A5FA"/>
                </a:solidFill>
                <a:latin typeface="Pretendard"/>
              </a:rPr>
              <a:t>을 가진다</a:t>
            </a:r>
            <a:r>
              <a:rPr lang="en-US" altLang="ko-KR" b="1" dirty="0">
                <a:solidFill>
                  <a:srgbClr val="60A5FA"/>
                </a:solidFill>
                <a:latin typeface="Pretendard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DFE16-05FA-A55A-E5B1-A5836811A476}"/>
              </a:ext>
            </a:extLst>
          </p:cNvPr>
          <p:cNvSpPr txBox="1"/>
          <p:nvPr/>
        </p:nvSpPr>
        <p:spPr>
          <a:xfrm>
            <a:off x="832196" y="2243260"/>
            <a:ext cx="686670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" sz="2000" dirty="0" err="1">
                <a:solidFill>
                  <a:srgbClr val="D1D5DB"/>
                </a:solidFill>
                <a:latin typeface="Pretendard"/>
              </a:rPr>
              <a:t>val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u =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virtualThreadExecutor.submit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{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userApi.get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(id) }</a:t>
            </a:r>
            <a:r>
              <a:rPr lang="ko-KR" altLang="en-US" sz="20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2000" dirty="0">
                <a:solidFill>
                  <a:srgbClr val="D1D5DB"/>
                </a:solidFill>
                <a:latin typeface="Pretendard"/>
              </a:rPr>
              <a:t>  //</a:t>
            </a:r>
            <a:r>
              <a:rPr lang="ko-KR" altLang="en-US" sz="20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2000" dirty="0">
                <a:solidFill>
                  <a:srgbClr val="D1D5DB"/>
                </a:solidFill>
                <a:latin typeface="Pretendard"/>
              </a:rPr>
              <a:t>A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</a:t>
            </a:r>
          </a:p>
          <a:p>
            <a:r>
              <a:rPr lang="en" sz="2000" dirty="0" err="1">
                <a:solidFill>
                  <a:srgbClr val="D1D5DB"/>
                </a:solidFill>
                <a:latin typeface="Pretendard"/>
              </a:rPr>
              <a:t>val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o =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virtualThreadExecutor.submit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{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orderApi.get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(id) } // B</a:t>
            </a:r>
          </a:p>
          <a:p>
            <a:r>
              <a:rPr lang="en" sz="2000" dirty="0">
                <a:solidFill>
                  <a:srgbClr val="D1D5DB"/>
                </a:solidFill>
                <a:latin typeface="Pretendard"/>
              </a:rPr>
              <a:t> </a:t>
            </a:r>
            <a:endParaRPr lang="en-US" sz="200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A813A7-0BE0-80D9-11F7-A41E4A565F42}"/>
              </a:ext>
            </a:extLst>
          </p:cNvPr>
          <p:cNvSpPr/>
          <p:nvPr/>
        </p:nvSpPr>
        <p:spPr>
          <a:xfrm>
            <a:off x="512157" y="635508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386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157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버츄얼 스레드 원리 ③ /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156" y="718413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Pretendard"/>
              </a:rPr>
              <a:t>Virtual Thread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동작 방식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6357" y="65836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11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740" y="1719072"/>
            <a:ext cx="1101852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rgbClr val="60A5FA"/>
              </a:solidFill>
              <a:latin typeface="Pretendard"/>
            </a:endParaRPr>
          </a:p>
          <a:p>
            <a:endParaRPr lang="ko-KR" altLang="en-US" b="1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95" y="2481496"/>
            <a:ext cx="10835641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1.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" altLang="ko-KR" sz="2000" dirty="0">
                <a:solidFill>
                  <a:schemeClr val="bg1"/>
                </a:solidFill>
              </a:rPr>
              <a:t>Virtual Thread</a:t>
            </a:r>
            <a:r>
              <a:rPr lang="ko-KR" altLang="en-US" sz="2000" dirty="0">
                <a:solidFill>
                  <a:schemeClr val="bg1"/>
                </a:solidFill>
              </a:rPr>
              <a:t>가 블로킹 </a:t>
            </a:r>
            <a:r>
              <a:rPr lang="en" altLang="ko-KR" sz="2000" dirty="0">
                <a:solidFill>
                  <a:schemeClr val="bg1"/>
                </a:solidFill>
              </a:rPr>
              <a:t>I/O</a:t>
            </a:r>
            <a:r>
              <a:rPr lang="ko-KR" altLang="en-US" sz="2000" dirty="0" err="1">
                <a:solidFill>
                  <a:schemeClr val="bg1"/>
                </a:solidFill>
              </a:rPr>
              <a:t>를</a:t>
            </a:r>
            <a:r>
              <a:rPr lang="ko-KR" altLang="en-US" sz="2000" dirty="0">
                <a:solidFill>
                  <a:schemeClr val="bg1"/>
                </a:solidFill>
              </a:rPr>
              <a:t> 만나면 </a:t>
            </a:r>
            <a:r>
              <a:rPr lang="en" altLang="ko-KR" sz="2000" dirty="0">
                <a:solidFill>
                  <a:schemeClr val="bg1"/>
                </a:solidFill>
              </a:rPr>
              <a:t>JVM </a:t>
            </a:r>
            <a:r>
              <a:rPr lang="ko-KR" altLang="en-US" sz="2000" dirty="0">
                <a:solidFill>
                  <a:schemeClr val="bg1"/>
                </a:solidFill>
              </a:rPr>
              <a:t>내부적으로 지금까지의 실행 상태</a:t>
            </a:r>
            <a:r>
              <a:rPr lang="en-US" altLang="ko-KR" sz="2000" dirty="0">
                <a:solidFill>
                  <a:schemeClr val="bg1"/>
                </a:solidFill>
              </a:rPr>
              <a:t>(Continuation)</a:t>
            </a:r>
            <a:r>
              <a:rPr lang="ko-KR" altLang="en-US" sz="2000" dirty="0">
                <a:solidFill>
                  <a:schemeClr val="bg1"/>
                </a:solidFill>
              </a:rPr>
              <a:t>을 </a:t>
            </a:r>
            <a:r>
              <a:rPr lang="en-US" altLang="ko-KR" sz="2000" dirty="0">
                <a:solidFill>
                  <a:schemeClr val="bg1"/>
                </a:solidFill>
              </a:rPr>
              <a:t>heap</a:t>
            </a:r>
            <a:r>
              <a:rPr lang="ko-KR" altLang="en-US" sz="2000" dirty="0" err="1">
                <a:solidFill>
                  <a:schemeClr val="bg1"/>
                </a:solidFill>
              </a:rPr>
              <a:t>에</a:t>
            </a:r>
            <a:r>
              <a:rPr lang="ko-KR" altLang="en-US" sz="2000" dirty="0">
                <a:solidFill>
                  <a:schemeClr val="bg1"/>
                </a:solidFill>
              </a:rPr>
              <a:t> 잠깐 저장</a:t>
            </a:r>
            <a:r>
              <a:rPr lang="en-US" altLang="ko-KR" sz="2000" dirty="0">
                <a:solidFill>
                  <a:schemeClr val="bg1"/>
                </a:solidFill>
              </a:rPr>
              <a:t>(park))</a:t>
            </a:r>
            <a:r>
              <a:rPr lang="ko-KR" altLang="en-US" sz="2000" dirty="0">
                <a:solidFill>
                  <a:schemeClr val="bg1"/>
                </a:solidFill>
              </a:rPr>
              <a:t>하고 플랫폼 스레드에서 잠시 내려온다</a:t>
            </a:r>
            <a:r>
              <a:rPr lang="en-US" altLang="ko-KR" sz="2000" dirty="0">
                <a:solidFill>
                  <a:schemeClr val="bg1"/>
                </a:solidFill>
              </a:rPr>
              <a:t>.(unmount)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2.</a:t>
            </a:r>
            <a:r>
              <a:rPr lang="ko-KR" altLang="en-US" sz="2000" dirty="0">
                <a:solidFill>
                  <a:schemeClr val="bg1"/>
                </a:solidFill>
              </a:rPr>
              <a:t> 비워진 </a:t>
            </a:r>
            <a:r>
              <a:rPr lang="ko-KR" altLang="en-US" sz="2000" dirty="0" err="1">
                <a:solidFill>
                  <a:schemeClr val="bg1"/>
                </a:solidFill>
              </a:rPr>
              <a:t>플랫픔</a:t>
            </a:r>
            <a:r>
              <a:rPr lang="ko-KR" altLang="en-US" sz="2000" dirty="0">
                <a:solidFill>
                  <a:schemeClr val="bg1"/>
                </a:solidFill>
              </a:rPr>
              <a:t> 스레드는 다른 </a:t>
            </a:r>
            <a:r>
              <a:rPr lang="ko-KR" altLang="en-US" sz="2000" dirty="0" err="1">
                <a:solidFill>
                  <a:schemeClr val="bg1"/>
                </a:solidFill>
              </a:rPr>
              <a:t>버츄얼</a:t>
            </a:r>
            <a:r>
              <a:rPr lang="ko-KR" altLang="en-US" sz="2000" dirty="0">
                <a:solidFill>
                  <a:schemeClr val="bg1"/>
                </a:solidFill>
              </a:rPr>
              <a:t> 스레드가 올라와 일을 이어간다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>
                <a:solidFill>
                  <a:schemeClr val="bg1"/>
                </a:solidFill>
              </a:rPr>
              <a:t>(mount)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3.</a:t>
            </a:r>
            <a:r>
              <a:rPr lang="ko-KR" altLang="en-US" sz="2000" dirty="0">
                <a:solidFill>
                  <a:schemeClr val="bg1"/>
                </a:solidFill>
              </a:rPr>
              <a:t> 응답이 돌아오면 </a:t>
            </a:r>
            <a:r>
              <a:rPr lang="en-US" altLang="ko-KR" sz="2000" dirty="0">
                <a:solidFill>
                  <a:schemeClr val="bg1"/>
                </a:solidFill>
              </a:rPr>
              <a:t>JVM</a:t>
            </a:r>
            <a:r>
              <a:rPr lang="ko-KR" altLang="en-US" sz="2000" dirty="0">
                <a:solidFill>
                  <a:schemeClr val="bg1"/>
                </a:solidFill>
              </a:rPr>
              <a:t>이 </a:t>
            </a:r>
            <a:r>
              <a:rPr lang="ko-KR" altLang="en-US" sz="2000" dirty="0" err="1">
                <a:solidFill>
                  <a:schemeClr val="bg1"/>
                </a:solidFill>
              </a:rPr>
              <a:t>힙에</a:t>
            </a:r>
            <a:r>
              <a:rPr lang="ko-KR" altLang="en-US" sz="2000" dirty="0">
                <a:solidFill>
                  <a:schemeClr val="bg1"/>
                </a:solidFill>
              </a:rPr>
              <a:t> 저장해둔 </a:t>
            </a:r>
            <a:r>
              <a:rPr lang="en-US" altLang="ko-KR" sz="2000" dirty="0">
                <a:solidFill>
                  <a:schemeClr val="bg1"/>
                </a:solidFill>
              </a:rPr>
              <a:t>Continuation</a:t>
            </a:r>
            <a:r>
              <a:rPr lang="ko-KR" altLang="en-US" sz="2000" dirty="0">
                <a:solidFill>
                  <a:schemeClr val="bg1"/>
                </a:solidFill>
              </a:rPr>
              <a:t>을 꺼내</a:t>
            </a:r>
            <a:r>
              <a:rPr lang="en-US" altLang="ko-KR" sz="2000" dirty="0">
                <a:solidFill>
                  <a:schemeClr val="bg1"/>
                </a:solidFill>
              </a:rPr>
              <a:t>(unpark)</a:t>
            </a:r>
            <a:r>
              <a:rPr lang="ko-KR" altLang="en-US" sz="2000" dirty="0">
                <a:solidFill>
                  <a:schemeClr val="bg1"/>
                </a:solidFill>
              </a:rPr>
              <a:t> 다시 플랫폼 스레드에 올려놓고</a:t>
            </a:r>
            <a:r>
              <a:rPr lang="en-US" altLang="ko-KR" sz="2000" dirty="0">
                <a:solidFill>
                  <a:schemeClr val="bg1"/>
                </a:solidFill>
              </a:rPr>
              <a:t>(mount)</a:t>
            </a:r>
            <a:r>
              <a:rPr lang="ko-KR" altLang="en-US" sz="2000" dirty="0">
                <a:solidFill>
                  <a:schemeClr val="bg1"/>
                </a:solidFill>
              </a:rPr>
              <a:t> 멈췄던 자리부터 실행을 재개한다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이 모든 과정이 자동이라</a:t>
            </a:r>
            <a:r>
              <a:rPr lang="en-US" altLang="ko-KR" sz="2000" dirty="0">
                <a:solidFill>
                  <a:schemeClr val="bg1"/>
                </a:solidFill>
              </a:rPr>
              <a:t>,</a:t>
            </a:r>
            <a:r>
              <a:rPr lang="ko-KR" altLang="en-US" sz="2000" dirty="0">
                <a:solidFill>
                  <a:schemeClr val="bg1"/>
                </a:solidFill>
              </a:rPr>
              <a:t> 개발자는 평소처럼 블로킹 코드를 써도 </a:t>
            </a:r>
            <a:r>
              <a:rPr lang="ko-KR" altLang="en-US" sz="2000" dirty="0" err="1">
                <a:solidFill>
                  <a:schemeClr val="bg1"/>
                </a:solidFill>
              </a:rPr>
              <a:t>논블로킹의</a:t>
            </a:r>
            <a:r>
              <a:rPr lang="ko-KR" altLang="en-US" sz="2000" dirty="0">
                <a:solidFill>
                  <a:schemeClr val="bg1"/>
                </a:solidFill>
              </a:rPr>
              <a:t> 효율을 얻는다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2157" y="635508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157" y="642823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스택을 힙에 저장하니 </a:t>
            </a:r>
            <a:r>
              <a:rPr sz="1300" b="1" i="0">
                <a:solidFill>
                  <a:srgbClr val="60A5FA"/>
                </a:solidFill>
                <a:latin typeface="Pretendard"/>
              </a:rPr>
              <a:t>수만 개를 만들어도 메모리 부담이 적다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1697F-CE6F-2B67-12A8-837223F9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D3797-A6F4-0E64-A158-6C1BF45D3986}"/>
              </a:ext>
            </a:extLst>
          </p:cNvPr>
          <p:cNvSpPr txBox="1"/>
          <p:nvPr/>
        </p:nvSpPr>
        <p:spPr>
          <a:xfrm>
            <a:off x="512157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버츄얼 스레드 원리 ③ / 정체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5C318-1A45-A25C-E4F1-C7F1AAE24616}"/>
              </a:ext>
            </a:extLst>
          </p:cNvPr>
          <p:cNvSpPr txBox="1"/>
          <p:nvPr/>
        </p:nvSpPr>
        <p:spPr>
          <a:xfrm>
            <a:off x="512157" y="74980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Pretendard"/>
              </a:rPr>
              <a:t>Virtual Thread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동작 방식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C5E2C-4134-F22C-DB84-291E7A2AC72F}"/>
              </a:ext>
            </a:extLst>
          </p:cNvPr>
          <p:cNvSpPr txBox="1"/>
          <p:nvPr/>
        </p:nvSpPr>
        <p:spPr>
          <a:xfrm>
            <a:off x="11256357" y="65836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11 / 28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195121-8604-A23E-3D05-D07B41056EE6}"/>
              </a:ext>
            </a:extLst>
          </p:cNvPr>
          <p:cNvSpPr/>
          <p:nvPr/>
        </p:nvSpPr>
        <p:spPr>
          <a:xfrm>
            <a:off x="586740" y="1719072"/>
            <a:ext cx="1101852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rgbClr val="60A5FA"/>
              </a:solidFill>
              <a:latin typeface="Pretendard"/>
            </a:endParaRPr>
          </a:p>
          <a:p>
            <a:endParaRPr lang="ko-KR" altLang="en-US" b="1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D0CE8-B8B1-1859-8810-52E705060E09}"/>
              </a:ext>
            </a:extLst>
          </p:cNvPr>
          <p:cNvSpPr txBox="1"/>
          <p:nvPr/>
        </p:nvSpPr>
        <p:spPr>
          <a:xfrm>
            <a:off x="832196" y="1910751"/>
            <a:ext cx="686670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" sz="2000" dirty="0" err="1">
                <a:solidFill>
                  <a:srgbClr val="D1D5DB"/>
                </a:solidFill>
                <a:latin typeface="Pretendard"/>
              </a:rPr>
              <a:t>val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u =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virtualThredExecutor.submit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{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userApi.get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(id) }</a:t>
            </a:r>
            <a:r>
              <a:rPr lang="ko-KR" altLang="en-US" sz="20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2000" dirty="0">
                <a:solidFill>
                  <a:srgbClr val="D1D5DB"/>
                </a:solidFill>
                <a:latin typeface="Pretendard"/>
              </a:rPr>
              <a:t>  //</a:t>
            </a:r>
            <a:r>
              <a:rPr lang="ko-KR" altLang="en-US" sz="2000" dirty="0">
                <a:solidFill>
                  <a:srgbClr val="D1D5DB"/>
                </a:solidFill>
                <a:latin typeface="Pretendard"/>
              </a:rPr>
              <a:t> </a:t>
            </a:r>
            <a:r>
              <a:rPr lang="en-US" altLang="ko-KR" sz="2000" dirty="0">
                <a:solidFill>
                  <a:srgbClr val="D1D5DB"/>
                </a:solidFill>
                <a:latin typeface="Pretendard"/>
              </a:rPr>
              <a:t>A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</a:t>
            </a:r>
          </a:p>
          <a:p>
            <a:r>
              <a:rPr lang="en" sz="2000" dirty="0" err="1">
                <a:solidFill>
                  <a:srgbClr val="D1D5DB"/>
                </a:solidFill>
                <a:latin typeface="Pretendard"/>
              </a:rPr>
              <a:t>val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o =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virtualThreadExecutor.submit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 { </a:t>
            </a:r>
            <a:r>
              <a:rPr lang="en" sz="2000" dirty="0" err="1">
                <a:solidFill>
                  <a:srgbClr val="D1D5DB"/>
                </a:solidFill>
                <a:latin typeface="Pretendard"/>
              </a:rPr>
              <a:t>orderApi.get</a:t>
            </a:r>
            <a:r>
              <a:rPr lang="en" sz="2000" dirty="0">
                <a:solidFill>
                  <a:srgbClr val="D1D5DB"/>
                </a:solidFill>
                <a:latin typeface="Pretendard"/>
              </a:rPr>
              <a:t>(id) } // B</a:t>
            </a:r>
          </a:p>
          <a:p>
            <a:r>
              <a:rPr lang="en" sz="2000" dirty="0">
                <a:solidFill>
                  <a:srgbClr val="D1D5DB"/>
                </a:solidFill>
                <a:latin typeface="Pretendard"/>
              </a:rPr>
              <a:t> </a:t>
            </a:r>
            <a:endParaRPr lang="en-US" sz="2000" dirty="0">
              <a:solidFill>
                <a:srgbClr val="D1D5DB"/>
              </a:solidFill>
              <a:latin typeface="Pretendard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4A6746-196C-DD8D-F00A-52FD63953B9E}"/>
              </a:ext>
            </a:extLst>
          </p:cNvPr>
          <p:cNvSpPr/>
          <p:nvPr/>
        </p:nvSpPr>
        <p:spPr>
          <a:xfrm>
            <a:off x="832195" y="3372458"/>
            <a:ext cx="10149840" cy="1584191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동작</a:t>
            </a:r>
          </a:p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" altLang="ko-KR" dirty="0"/>
              <a:t>virtual thread A </a:t>
            </a:r>
            <a:r>
              <a:rPr lang="ko-KR" altLang="en-US" dirty="0"/>
              <a:t>생성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carrier thread</a:t>
            </a:r>
            <a:r>
              <a:rPr lang="ko-KR" altLang="en-US" dirty="0"/>
              <a:t> </a:t>
            </a:r>
            <a:r>
              <a:rPr lang="en-US" altLang="ko-KR" dirty="0"/>
              <a:t>mount -&gt; </a:t>
            </a:r>
            <a:r>
              <a:rPr lang="en-US" altLang="ko-KR" dirty="0" err="1"/>
              <a:t>userApi.get</a:t>
            </a:r>
            <a:r>
              <a:rPr lang="en-US" altLang="ko-KR" dirty="0"/>
              <a:t>() </a:t>
            </a:r>
            <a:r>
              <a:rPr lang="ko-KR" altLang="en-US" dirty="0"/>
              <a:t> 호출 </a:t>
            </a:r>
            <a:r>
              <a:rPr lang="en-US" altLang="ko-KR" dirty="0"/>
              <a:t>-&gt;</a:t>
            </a:r>
            <a:r>
              <a:rPr lang="ko-KR" altLang="en-US" dirty="0"/>
              <a:t> 블로킹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park -&gt; unmount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virtual thread B</a:t>
            </a:r>
            <a:r>
              <a:rPr lang="ko-KR" altLang="en-US" dirty="0"/>
              <a:t> 생성 </a:t>
            </a:r>
            <a:r>
              <a:rPr lang="en-US" altLang="ko-KR" dirty="0"/>
              <a:t>-&gt;</a:t>
            </a:r>
            <a:r>
              <a:rPr lang="ko-KR" altLang="en-US" dirty="0"/>
              <a:t> 해방된 </a:t>
            </a:r>
            <a:r>
              <a:rPr lang="en-US" altLang="ko-KR" dirty="0"/>
              <a:t>carrier thread mount -&gt; </a:t>
            </a:r>
            <a:r>
              <a:rPr lang="en-US" altLang="ko-KR" dirty="0" err="1"/>
              <a:t>orderApi.get</a:t>
            </a:r>
            <a:r>
              <a:rPr lang="ko-KR" altLang="en-US" dirty="0"/>
              <a:t> 호출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park -&gt; unmount</a:t>
            </a:r>
          </a:p>
          <a:p>
            <a:r>
              <a:rPr lang="en-US" altLang="ko-KR" dirty="0"/>
              <a:t>3.</a:t>
            </a:r>
            <a:r>
              <a:rPr lang="ko-KR" altLang="en-US" dirty="0"/>
              <a:t> 이제 </a:t>
            </a:r>
            <a:r>
              <a:rPr lang="en-US" altLang="ko-KR" dirty="0"/>
              <a:t> virtual thread</a:t>
            </a:r>
            <a:r>
              <a:rPr lang="ko-KR" altLang="en-US" dirty="0"/>
              <a:t> </a:t>
            </a:r>
            <a:r>
              <a:rPr lang="en-US" altLang="ko-KR" dirty="0"/>
              <a:t>A,B</a:t>
            </a:r>
            <a:r>
              <a:rPr lang="ko-KR" altLang="en-US" dirty="0"/>
              <a:t> 모두</a:t>
            </a:r>
            <a:r>
              <a:rPr lang="en-US" altLang="ko-KR" dirty="0"/>
              <a:t> heap</a:t>
            </a:r>
            <a:r>
              <a:rPr lang="ko-KR" altLang="en-US" dirty="0"/>
              <a:t>에서 잠듦</a:t>
            </a:r>
            <a:r>
              <a:rPr lang="en-US" altLang="ko-KR" dirty="0"/>
              <a:t>.</a:t>
            </a:r>
            <a:r>
              <a:rPr lang="ko-KR" altLang="en-US" dirty="0"/>
              <a:t> 두 </a:t>
            </a:r>
            <a:r>
              <a:rPr lang="en-US" altLang="ko-KR" dirty="0"/>
              <a:t>API</a:t>
            </a:r>
            <a:r>
              <a:rPr lang="ko-KR" altLang="en-US" dirty="0"/>
              <a:t> 응답을 병렬로 대기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 응답 도착한 </a:t>
            </a:r>
            <a:r>
              <a:rPr lang="en-US" altLang="ko-KR" dirty="0"/>
              <a:t>virtual thread</a:t>
            </a:r>
            <a:r>
              <a:rPr lang="ko-KR" altLang="en-US" dirty="0"/>
              <a:t> </a:t>
            </a:r>
            <a:r>
              <a:rPr lang="ko-KR" altLang="en-US" dirty="0" err="1"/>
              <a:t>부터</a:t>
            </a:r>
            <a:r>
              <a:rPr lang="ko-KR" altLang="en-US" dirty="0"/>
              <a:t> </a:t>
            </a:r>
            <a:r>
              <a:rPr lang="en-US" altLang="ko-KR" dirty="0"/>
              <a:t>unpark -&gt; mount -&gt; </a:t>
            </a:r>
            <a:r>
              <a:rPr lang="ko-KR" altLang="en-US" dirty="0"/>
              <a:t>값 반환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71D589-B2E2-09BA-B0EF-53BC9374966C}"/>
              </a:ext>
            </a:extLst>
          </p:cNvPr>
          <p:cNvSpPr/>
          <p:nvPr/>
        </p:nvSpPr>
        <p:spPr>
          <a:xfrm>
            <a:off x="512157" y="635508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28838-EE2C-6FE5-CED2-CAF1C7560A70}"/>
              </a:ext>
            </a:extLst>
          </p:cNvPr>
          <p:cNvSpPr txBox="1"/>
          <p:nvPr/>
        </p:nvSpPr>
        <p:spPr>
          <a:xfrm>
            <a:off x="512157" y="642823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스택을 힙에 저장하니 </a:t>
            </a:r>
            <a:r>
              <a:rPr sz="1300" b="1" i="0">
                <a:solidFill>
                  <a:srgbClr val="60A5FA"/>
                </a:solidFill>
                <a:latin typeface="Pretendard"/>
              </a:rPr>
              <a:t>수만 개를 만들어도 메모리 부담이 적다</a:t>
            </a:r>
          </a:p>
        </p:txBody>
      </p:sp>
    </p:spTree>
    <p:extLst>
      <p:ext uri="{BB962C8B-B14F-4D97-AF65-F5344CB8AC3E}">
        <p14:creationId xmlns:p14="http://schemas.microsoft.com/office/powerpoint/2010/main" val="346774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22">
            <a:extLst>
              <a:ext uri="{FF2B5EF4-FFF2-40B4-BE49-F238E27FC236}">
                <a16:creationId xmlns:a16="http://schemas.microsoft.com/office/drawing/2014/main" id="{54751004-2535-F71D-50CF-6E56E3CED707}"/>
              </a:ext>
            </a:extLst>
          </p:cNvPr>
          <p:cNvSpPr/>
          <p:nvPr/>
        </p:nvSpPr>
        <p:spPr>
          <a:xfrm>
            <a:off x="7335982" y="2556052"/>
            <a:ext cx="1188720" cy="32004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버츄얼 스레드 원리 ④ / 기본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40743"/>
            <a:ext cx="2011680" cy="77724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0" y="1150471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버츄얼 스레드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3393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BFDBFE"/>
                </a:solidFill>
                <a:latin typeface="Pretendard"/>
              </a:rPr>
              <a:t>continuation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35226" y="983593"/>
            <a:ext cx="2660534" cy="155448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2236321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Pretendard"/>
              </a:rPr>
              <a:t>Heap 메모리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349353"/>
            <a:ext cx="2194560" cy="82296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0" y="1440793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Pretendard"/>
              </a:rPr>
              <a:t>버츄얼</a:t>
            </a:r>
            <a:r>
              <a:rPr sz="12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Pretendard"/>
              </a:rPr>
              <a:t>스레드</a:t>
            </a:r>
            <a:r>
              <a:rPr sz="1200" b="1" dirty="0">
                <a:solidFill>
                  <a:srgbClr val="FFFFFF"/>
                </a:solidFill>
                <a:latin typeface="Pretendard"/>
              </a:rPr>
              <a:t>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73340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BFDBFE"/>
                </a:solidFill>
                <a:latin typeface="Pretendard"/>
              </a:rPr>
              <a:t>continuation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 flipH="1" flipV="1">
            <a:off x="1245834" y="5077193"/>
            <a:ext cx="3206787" cy="15256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7035" y="119411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1.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요청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7509164" y="1577953"/>
            <a:ext cx="1589116" cy="0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2364" y="1692253"/>
            <a:ext cx="914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6.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100" b="0" dirty="0">
                <a:solidFill>
                  <a:srgbClr val="9CA3AF"/>
                </a:solidFill>
                <a:latin typeface="Pretendard"/>
              </a:rPr>
              <a:t>park()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8745" y="3751199"/>
            <a:ext cx="5008133" cy="2281427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9710" y="3825140"/>
            <a:ext cx="76892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solidFill>
                  <a:srgbClr val="9CA3AF"/>
                </a:solidFill>
                <a:latin typeface="Pretendard"/>
              </a:rPr>
              <a:t>ForkJoinPool</a:t>
            </a:r>
            <a:endParaRPr sz="1100" b="1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75383" y="3358006"/>
            <a:ext cx="1051560" cy="182880"/>
          </a:xfrm>
          <a:prstGeom prst="ellipse">
            <a:avLst/>
          </a:prstGeom>
          <a:solidFill>
            <a:srgbClr val="6B7280"/>
          </a:solidFill>
          <a:ln w="9525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75383" y="3449446"/>
            <a:ext cx="1051560" cy="868680"/>
          </a:xfrm>
          <a:prstGeom prst="rect">
            <a:avLst/>
          </a:prstGeom>
          <a:solidFill>
            <a:srgbClr val="6B7280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5383" y="4272406"/>
            <a:ext cx="1051560" cy="182880"/>
          </a:xfrm>
          <a:prstGeom prst="ellipse">
            <a:avLst/>
          </a:prstGeom>
          <a:solidFill>
            <a:srgbClr val="6B7280"/>
          </a:solidFill>
          <a:ln w="9525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5383" y="3495166"/>
            <a:ext cx="1051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Work
Steal
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6803" y="2626486"/>
            <a:ext cx="1188720" cy="32004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16531" y="2717926"/>
            <a:ext cx="1188720" cy="32004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6531" y="276364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버츄얼 스레드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01163" y="3037966"/>
            <a:ext cx="0" cy="320040"/>
          </a:xfrm>
          <a:prstGeom prst="line">
            <a:avLst/>
          </a:prstGeom>
          <a:ln w="9525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77296" y="4926548"/>
            <a:ext cx="1828800" cy="868680"/>
          </a:xfrm>
          <a:prstGeom prst="rect">
            <a:avLst/>
          </a:prstGeom>
          <a:solidFill>
            <a:srgbClr val="22C55E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4677296" y="526167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 err="1">
                <a:solidFill>
                  <a:srgbClr val="052E16"/>
                </a:solidFill>
                <a:latin typeface="Pretendard"/>
              </a:rPr>
              <a:t>CarrierThread</a:t>
            </a:r>
            <a:r>
              <a:rPr sz="1200" b="1" dirty="0">
                <a:solidFill>
                  <a:srgbClr val="052E16"/>
                </a:solidFill>
                <a:latin typeface="Pretendard"/>
              </a:rPr>
              <a:t> 1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601163" y="4549493"/>
            <a:ext cx="0" cy="182881"/>
          </a:xfrm>
          <a:prstGeom prst="line">
            <a:avLst/>
          </a:prstGeom>
          <a:ln w="1270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75283" y="47179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9CA3AF"/>
                </a:solidFill>
                <a:latin typeface="Pretendard"/>
              </a:rPr>
              <a:t>mount()</a:t>
            </a:r>
          </a:p>
        </p:txBody>
      </p:sp>
      <p:sp>
        <p:nvSpPr>
          <p:cNvPr id="31" name="Oval 30"/>
          <p:cNvSpPr/>
          <p:nvPr/>
        </p:nvSpPr>
        <p:spPr>
          <a:xfrm>
            <a:off x="7521403" y="3385439"/>
            <a:ext cx="1051560" cy="182880"/>
          </a:xfrm>
          <a:prstGeom prst="ellipse">
            <a:avLst/>
          </a:prstGeom>
          <a:solidFill>
            <a:srgbClr val="6B7280"/>
          </a:solidFill>
          <a:ln w="9525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21403" y="3476879"/>
            <a:ext cx="1051560" cy="868680"/>
          </a:xfrm>
          <a:prstGeom prst="rect">
            <a:avLst/>
          </a:prstGeom>
          <a:solidFill>
            <a:srgbClr val="6B7280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21403" y="4299839"/>
            <a:ext cx="1051560" cy="182880"/>
          </a:xfrm>
          <a:prstGeom prst="ellipse">
            <a:avLst/>
          </a:prstGeom>
          <a:solidFill>
            <a:srgbClr val="6B7280"/>
          </a:solidFill>
          <a:ln w="9525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21403" y="3522599"/>
            <a:ext cx="1051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Work
Steal
Queue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823" y="2653919"/>
            <a:ext cx="1188720" cy="320040"/>
          </a:xfrm>
          <a:prstGeom prst="rect">
            <a:avLst/>
          </a:prstGeom>
          <a:solidFill>
            <a:srgbClr val="2563EB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52823" y="269963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Pretendard"/>
              </a:rPr>
              <a:t>버츄얼</a:t>
            </a:r>
            <a:r>
              <a:rPr sz="9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Pretendard"/>
              </a:rPr>
              <a:t>스레드</a:t>
            </a:r>
            <a:endParaRPr sz="900" b="1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047184" y="2973959"/>
            <a:ext cx="0" cy="411480"/>
          </a:xfrm>
          <a:prstGeom prst="line">
            <a:avLst/>
          </a:prstGeom>
          <a:ln w="9525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02920" y="5692753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440" y="6356447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 err="1">
                <a:solidFill>
                  <a:srgbClr val="D1D5DB"/>
                </a:solidFill>
                <a:latin typeface="Pretendard"/>
              </a:rPr>
              <a:t>각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carrier마다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1" i="0" dirty="0">
                <a:solidFill>
                  <a:srgbClr val="FFFFFF"/>
                </a:solidFill>
                <a:latin typeface="Pretendard"/>
              </a:rPr>
              <a:t>Work Steal </a:t>
            </a:r>
            <a:r>
              <a:rPr sz="1300" b="1" i="0" dirty="0" err="1">
                <a:solidFill>
                  <a:srgbClr val="FFFFFF"/>
                </a:solidFill>
                <a:latin typeface="Pretendard"/>
              </a:rPr>
              <a:t>Queue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가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있고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,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carrier가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놀면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옆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300" b="0" i="0" dirty="0" err="1">
                <a:solidFill>
                  <a:srgbClr val="D1D5DB"/>
                </a:solidFill>
                <a:latin typeface="Pretendard"/>
              </a:rPr>
              <a:t>큐에서</a:t>
            </a:r>
            <a:r>
              <a:rPr sz="1300" b="0" i="0" dirty="0">
                <a:solidFill>
                  <a:srgbClr val="D1D5DB"/>
                </a:solidFill>
                <a:latin typeface="Pretendard"/>
              </a:rPr>
              <a:t> work-steal</a:t>
            </a:r>
          </a:p>
        </p:txBody>
      </p:sp>
      <p:sp>
        <p:nvSpPr>
          <p:cNvPr id="54" name="Rectangle 26">
            <a:extLst>
              <a:ext uri="{FF2B5EF4-FFF2-40B4-BE49-F238E27FC236}">
                <a16:creationId xmlns:a16="http://schemas.microsoft.com/office/drawing/2014/main" id="{A50749B6-C5BD-A56E-4262-E92B9D9DD8AE}"/>
              </a:ext>
            </a:extLst>
          </p:cNvPr>
          <p:cNvSpPr/>
          <p:nvPr/>
        </p:nvSpPr>
        <p:spPr>
          <a:xfrm>
            <a:off x="7132784" y="4894198"/>
            <a:ext cx="1828800" cy="868680"/>
          </a:xfrm>
          <a:prstGeom prst="rect">
            <a:avLst/>
          </a:prstGeom>
          <a:solidFill>
            <a:srgbClr val="22C55E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cxnSp>
        <p:nvCxnSpPr>
          <p:cNvPr id="55" name="Connector 28">
            <a:extLst>
              <a:ext uri="{FF2B5EF4-FFF2-40B4-BE49-F238E27FC236}">
                <a16:creationId xmlns:a16="http://schemas.microsoft.com/office/drawing/2014/main" id="{FC38DA0B-52B9-1DDF-8693-F42970D01346}"/>
              </a:ext>
            </a:extLst>
          </p:cNvPr>
          <p:cNvCxnSpPr/>
          <p:nvPr/>
        </p:nvCxnSpPr>
        <p:spPr>
          <a:xfrm flipV="1">
            <a:off x="8056651" y="4517143"/>
            <a:ext cx="0" cy="182881"/>
          </a:xfrm>
          <a:prstGeom prst="line">
            <a:avLst/>
          </a:prstGeom>
          <a:ln w="1270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CB14E79-25CB-A058-406B-1787DD460916}"/>
              </a:ext>
            </a:extLst>
          </p:cNvPr>
          <p:cNvSpPr txBox="1"/>
          <p:nvPr/>
        </p:nvSpPr>
        <p:spPr>
          <a:xfrm>
            <a:off x="6730771" y="468561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9CA3AF"/>
                </a:solidFill>
                <a:latin typeface="Pretendard"/>
              </a:rPr>
              <a:t>mount()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887734-FFCB-455D-C699-CC8AEE5F52FF}"/>
              </a:ext>
            </a:extLst>
          </p:cNvPr>
          <p:cNvSpPr txBox="1"/>
          <p:nvPr/>
        </p:nvSpPr>
        <p:spPr>
          <a:xfrm>
            <a:off x="7089025" y="5227536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052E16"/>
                </a:solidFill>
                <a:latin typeface="Pretendard"/>
              </a:rPr>
              <a:t>CarrierThread</a:t>
            </a:r>
            <a:r>
              <a:rPr lang="en-US" altLang="ko-KR" sz="1200" b="1" dirty="0">
                <a:solidFill>
                  <a:srgbClr val="052E16"/>
                </a:solidFill>
                <a:latin typeface="Pretendard"/>
              </a:rPr>
              <a:t>1</a:t>
            </a:r>
            <a:endParaRPr sz="1200" b="1" dirty="0">
              <a:solidFill>
                <a:srgbClr val="052E16"/>
              </a:solidFill>
              <a:latin typeface="Pretendard"/>
            </a:endParaRPr>
          </a:p>
        </p:txBody>
      </p:sp>
      <p:cxnSp>
        <p:nvCxnSpPr>
          <p:cNvPr id="61" name="Connector 12">
            <a:extLst>
              <a:ext uri="{FF2B5EF4-FFF2-40B4-BE49-F238E27FC236}">
                <a16:creationId xmlns:a16="http://schemas.microsoft.com/office/drawing/2014/main" id="{08BE8379-3F00-5B5D-117B-BC8A28D62D4E}"/>
              </a:ext>
            </a:extLst>
          </p:cNvPr>
          <p:cNvCxnSpPr>
            <a:cxnSpLocks/>
          </p:cNvCxnSpPr>
          <p:nvPr/>
        </p:nvCxnSpPr>
        <p:spPr>
          <a:xfrm flipH="1">
            <a:off x="5574609" y="1872314"/>
            <a:ext cx="964851" cy="700451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12">
            <a:extLst>
              <a:ext uri="{FF2B5EF4-FFF2-40B4-BE49-F238E27FC236}">
                <a16:creationId xmlns:a16="http://schemas.microsoft.com/office/drawing/2014/main" id="{B3443B6A-05B9-4EF5-D2B7-A826ABB66BD2}"/>
              </a:ext>
            </a:extLst>
          </p:cNvPr>
          <p:cNvCxnSpPr>
            <a:cxnSpLocks/>
          </p:cNvCxnSpPr>
          <p:nvPr/>
        </p:nvCxnSpPr>
        <p:spPr>
          <a:xfrm>
            <a:off x="6506096" y="1863703"/>
            <a:ext cx="1432097" cy="674370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웃는 얼굴[S] 67">
            <a:extLst>
              <a:ext uri="{FF2B5EF4-FFF2-40B4-BE49-F238E27FC236}">
                <a16:creationId xmlns:a16="http://schemas.microsoft.com/office/drawing/2014/main" id="{39759842-B781-39FC-F9A7-523B908AAC0C}"/>
              </a:ext>
            </a:extLst>
          </p:cNvPr>
          <p:cNvSpPr/>
          <p:nvPr/>
        </p:nvSpPr>
        <p:spPr>
          <a:xfrm>
            <a:off x="833581" y="1061180"/>
            <a:ext cx="984597" cy="855309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9" name="Connector 14">
            <a:extLst>
              <a:ext uri="{FF2B5EF4-FFF2-40B4-BE49-F238E27FC236}">
                <a16:creationId xmlns:a16="http://schemas.microsoft.com/office/drawing/2014/main" id="{4FB7A96C-2CF1-C472-F942-AA27C66CE6ED}"/>
              </a:ext>
            </a:extLst>
          </p:cNvPr>
          <p:cNvCxnSpPr>
            <a:cxnSpLocks/>
          </p:cNvCxnSpPr>
          <p:nvPr/>
        </p:nvCxnSpPr>
        <p:spPr>
          <a:xfrm>
            <a:off x="2023457" y="1499456"/>
            <a:ext cx="3129511" cy="0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C157DE9-EC18-A56E-0589-CCCF5BB006C5}"/>
              </a:ext>
            </a:extLst>
          </p:cNvPr>
          <p:cNvSpPr txBox="1"/>
          <p:nvPr/>
        </p:nvSpPr>
        <p:spPr>
          <a:xfrm>
            <a:off x="7560196" y="726868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10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.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100" b="0" dirty="0">
                <a:solidFill>
                  <a:srgbClr val="9CA3AF"/>
                </a:solidFill>
                <a:latin typeface="Pretendard"/>
              </a:rPr>
              <a:t>unpark()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47C0DE-585E-2734-4B28-DFA4B909B3F6}"/>
              </a:ext>
            </a:extLst>
          </p:cNvPr>
          <p:cNvSpPr txBox="1"/>
          <p:nvPr/>
        </p:nvSpPr>
        <p:spPr>
          <a:xfrm>
            <a:off x="5590541" y="750364"/>
            <a:ext cx="150414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2,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ko-KR" altLang="en-US" sz="1100" dirty="0" err="1">
                <a:solidFill>
                  <a:srgbClr val="9CA3AF"/>
                </a:solidFill>
                <a:latin typeface="Pretendard"/>
              </a:rPr>
              <a:t>버츄얼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스레드 생성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A3140E-95FB-7DC2-4F09-6A848405812A}"/>
              </a:ext>
            </a:extLst>
          </p:cNvPr>
          <p:cNvSpPr txBox="1"/>
          <p:nvPr/>
        </p:nvSpPr>
        <p:spPr>
          <a:xfrm>
            <a:off x="2836543" y="5517484"/>
            <a:ext cx="265100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4.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포크 조인풀의 캐리어 </a:t>
            </a:r>
            <a:endParaRPr lang="en-US" altLang="ko-KR" sz="1100" dirty="0">
              <a:solidFill>
                <a:srgbClr val="9CA3AF"/>
              </a:solidFill>
              <a:latin typeface="Pretendard"/>
            </a:endParaRPr>
          </a:p>
          <a:p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스레드가 큐에서 꺼내 마운트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84" name="양쪽 모서리가 둥근 사각형 83">
            <a:extLst>
              <a:ext uri="{FF2B5EF4-FFF2-40B4-BE49-F238E27FC236}">
                <a16:creationId xmlns:a16="http://schemas.microsoft.com/office/drawing/2014/main" id="{6000C1E8-2C01-907F-B478-96267467931B}"/>
              </a:ext>
            </a:extLst>
          </p:cNvPr>
          <p:cNvSpPr/>
          <p:nvPr/>
        </p:nvSpPr>
        <p:spPr>
          <a:xfrm>
            <a:off x="232608" y="4633595"/>
            <a:ext cx="914400" cy="914400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외부 </a:t>
            </a:r>
            <a:r>
              <a:rPr kumimoji="1" lang="en-US" altLang="ko-KR" dirty="0"/>
              <a:t>API</a:t>
            </a:r>
            <a:endParaRPr kumimoji="1" lang="ko-KR" altLang="en-US" dirty="0"/>
          </a:p>
        </p:txBody>
      </p:sp>
      <p:cxnSp>
        <p:nvCxnSpPr>
          <p:cNvPr id="91" name="Connector 12">
            <a:extLst>
              <a:ext uri="{FF2B5EF4-FFF2-40B4-BE49-F238E27FC236}">
                <a16:creationId xmlns:a16="http://schemas.microsoft.com/office/drawing/2014/main" id="{118330C1-7E76-9FD5-EB6B-D4ABFE8B1F8D}"/>
              </a:ext>
            </a:extLst>
          </p:cNvPr>
          <p:cNvCxnSpPr>
            <a:cxnSpLocks/>
          </p:cNvCxnSpPr>
          <p:nvPr/>
        </p:nvCxnSpPr>
        <p:spPr>
          <a:xfrm flipH="1">
            <a:off x="7509164" y="1194114"/>
            <a:ext cx="1589116" cy="0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D4DD01F-01BE-07BA-5B5C-EAB7BFD56663}"/>
              </a:ext>
            </a:extLst>
          </p:cNvPr>
          <p:cNvSpPr txBox="1"/>
          <p:nvPr/>
        </p:nvSpPr>
        <p:spPr>
          <a:xfrm>
            <a:off x="1233830" y="5195251"/>
            <a:ext cx="225881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5,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외부 </a:t>
            </a:r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API 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호출 등 </a:t>
            </a:r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Blocking I/O 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만남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F197CA6-6CC4-93D7-20F3-91BBAB0593B4}"/>
              </a:ext>
            </a:extLst>
          </p:cNvPr>
          <p:cNvSpPr txBox="1"/>
          <p:nvPr/>
        </p:nvSpPr>
        <p:spPr>
          <a:xfrm>
            <a:off x="7132784" y="1899914"/>
            <a:ext cx="20240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7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altLang="ko-KR" sz="1100" b="0" dirty="0" err="1">
                <a:solidFill>
                  <a:srgbClr val="9CA3AF"/>
                </a:solidFill>
                <a:latin typeface="Pretendard"/>
              </a:rPr>
              <a:t>Continuationm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을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head</a:t>
            </a:r>
            <a:r>
              <a:rPr lang="ko-KR" altLang="en-US" sz="1100" dirty="0" err="1">
                <a:solidFill>
                  <a:srgbClr val="9CA3AF"/>
                </a:solidFill>
                <a:latin typeface="Pretendard"/>
              </a:rPr>
              <a:t>에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이동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2A1923F-BD7D-81F9-ACB2-A10689E05660}"/>
              </a:ext>
            </a:extLst>
          </p:cNvPr>
          <p:cNvSpPr txBox="1"/>
          <p:nvPr/>
        </p:nvSpPr>
        <p:spPr>
          <a:xfrm>
            <a:off x="9006036" y="5209441"/>
            <a:ext cx="299260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8.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 해방된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Carrier thread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는 </a:t>
            </a:r>
            <a:r>
              <a:rPr lang="en-US" altLang="ko-KR" sz="1100" dirty="0">
                <a:solidFill>
                  <a:srgbClr val="9CA3AF"/>
                </a:solidFill>
                <a:latin typeface="Pretendard"/>
              </a:rPr>
              <a:t>Queue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에서 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다음 </a:t>
            </a:r>
            <a:endParaRPr lang="en-US" altLang="ko-KR" sz="1100" b="0" dirty="0">
              <a:solidFill>
                <a:srgbClr val="9CA3AF"/>
              </a:solidFill>
              <a:latin typeface="Pretendard"/>
            </a:endParaRPr>
          </a:p>
          <a:p>
            <a:r>
              <a:rPr lang="ko-KR" altLang="en-US" sz="1100" b="0" dirty="0" err="1">
                <a:solidFill>
                  <a:srgbClr val="9CA3AF"/>
                </a:solidFill>
                <a:latin typeface="Pretendard"/>
              </a:rPr>
              <a:t>버츄얼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스레드를 꺼내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mount 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및 이어서 실행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cxnSp>
        <p:nvCxnSpPr>
          <p:cNvPr id="95" name="Connector 12">
            <a:extLst>
              <a:ext uri="{FF2B5EF4-FFF2-40B4-BE49-F238E27FC236}">
                <a16:creationId xmlns:a16="http://schemas.microsoft.com/office/drawing/2014/main" id="{B0CAF1FE-654E-56A2-A20D-FAABE7BCC403}"/>
              </a:ext>
            </a:extLst>
          </p:cNvPr>
          <p:cNvCxnSpPr>
            <a:cxnSpLocks/>
          </p:cNvCxnSpPr>
          <p:nvPr/>
        </p:nvCxnSpPr>
        <p:spPr>
          <a:xfrm>
            <a:off x="1233830" y="4902195"/>
            <a:ext cx="2834815" cy="34883"/>
          </a:xfrm>
          <a:prstGeom prst="line">
            <a:avLst/>
          </a:prstGeom>
          <a:ln w="1524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E3C07E9-36BC-D03F-AE0B-84921AF82FA0}"/>
              </a:ext>
            </a:extLst>
          </p:cNvPr>
          <p:cNvSpPr txBox="1"/>
          <p:nvPr/>
        </p:nvSpPr>
        <p:spPr>
          <a:xfrm>
            <a:off x="1398442" y="4674308"/>
            <a:ext cx="20240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9.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I/O 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응답 도착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6C5976D-A540-9EAE-5A09-9B895B4030AE}"/>
              </a:ext>
            </a:extLst>
          </p:cNvPr>
          <p:cNvSpPr txBox="1"/>
          <p:nvPr/>
        </p:nvSpPr>
        <p:spPr>
          <a:xfrm>
            <a:off x="7258886" y="883327"/>
            <a:ext cx="20240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11.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Heap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의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continuation</a:t>
            </a:r>
            <a:r>
              <a:rPr lang="ko-KR" altLang="en-US" sz="1100" dirty="0">
                <a:solidFill>
                  <a:srgbClr val="9CA3AF"/>
                </a:solidFill>
                <a:latin typeface="Pretendard"/>
              </a:rPr>
              <a:t> 복귀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9CD5E7-C78E-BED7-01D6-7DFD07850FC1}"/>
              </a:ext>
            </a:extLst>
          </p:cNvPr>
          <p:cNvSpPr txBox="1"/>
          <p:nvPr/>
        </p:nvSpPr>
        <p:spPr>
          <a:xfrm>
            <a:off x="2838738" y="2388607"/>
            <a:ext cx="20240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3.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sz="1100" b="0" dirty="0">
                <a:solidFill>
                  <a:srgbClr val="9CA3AF"/>
                </a:solidFill>
                <a:latin typeface="Pretendard"/>
              </a:rPr>
              <a:t>Work Steal Queue</a:t>
            </a:r>
            <a:r>
              <a:rPr lang="ko-KR" altLang="en-US" sz="1100" b="0" dirty="0" err="1">
                <a:solidFill>
                  <a:srgbClr val="9CA3AF"/>
                </a:solidFill>
                <a:latin typeface="Pretendard"/>
              </a:rPr>
              <a:t>에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적재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B3ABF3-BC3E-8863-5030-E87B19FA87E0}"/>
              </a:ext>
            </a:extLst>
          </p:cNvPr>
          <p:cNvSpPr txBox="1"/>
          <p:nvPr/>
        </p:nvSpPr>
        <p:spPr>
          <a:xfrm>
            <a:off x="833581" y="4026767"/>
            <a:ext cx="425363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12.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 사용 가능한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Carrier Thread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가 다시 </a:t>
            </a:r>
            <a:r>
              <a:rPr lang="en-US" altLang="ko-KR" sz="1100" b="0" dirty="0">
                <a:solidFill>
                  <a:srgbClr val="9CA3AF"/>
                </a:solidFill>
                <a:latin typeface="Pretendard"/>
              </a:rPr>
              <a:t>mount -&gt; </a:t>
            </a:r>
            <a:r>
              <a:rPr lang="ko-KR" altLang="en-US" sz="1100" b="0" dirty="0">
                <a:solidFill>
                  <a:srgbClr val="9CA3AF"/>
                </a:solidFill>
                <a:latin typeface="Pretendard"/>
              </a:rPr>
              <a:t>중단 시점부터 재개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피닝 ① / JDK 21의 함정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synchronized 블록에선 continuation이 park() 못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테스트 코드 (Kotlin)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217920" cy="393192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59436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private val </a:t>
            </a:r>
            <a:r>
              <a:rPr sz="1100">
                <a:solidFill>
                  <a:srgbClr val="FFFFFF"/>
                </a:solidFill>
                <a:latin typeface="Menlo"/>
              </a:rPr>
              <a:t>lock </a:t>
            </a:r>
            <a:r>
              <a:rPr sz="1100">
                <a:solidFill>
                  <a:srgbClr val="D1D5DB"/>
                </a:solidFill>
                <a:latin typeface="Menlo"/>
              </a:rPr>
              <a:t>= </a:t>
            </a:r>
            <a:r>
              <a:rPr sz="1100">
                <a:solidFill>
                  <a:srgbClr val="60A5FA"/>
                </a:solidFill>
                <a:latin typeface="Menlo"/>
              </a:rPr>
              <a:t>Any</a:t>
            </a:r>
            <a:r>
              <a:rPr sz="110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endParaRPr sz="110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fun </a:t>
            </a:r>
            <a:r>
              <a:rPr sz="1100">
                <a:solidFill>
                  <a:srgbClr val="60A5FA"/>
                </a:solidFill>
                <a:latin typeface="Menlo"/>
              </a:rPr>
              <a:t>handle</a:t>
            </a:r>
            <a:r>
              <a:rPr sz="1100">
                <a:solidFill>
                  <a:srgbClr val="D1D5DB"/>
                </a:solidFill>
                <a:latin typeface="Menlo"/>
              </a:rPr>
              <a:t>() {</a:t>
            </a:r>
          </a:p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    synchronized</a:t>
            </a:r>
            <a:r>
              <a:rPr sz="1100">
                <a:solidFill>
                  <a:srgbClr val="D1D5DB"/>
                </a:solidFill>
                <a:latin typeface="Menlo"/>
              </a:rPr>
              <a:t>(lock) {</a:t>
            </a:r>
          </a:p>
          <a:p>
            <a:pPr algn="l"/>
            <a:r>
              <a:rPr sz="1100">
                <a:solidFill>
                  <a:srgbClr val="6B7280"/>
                </a:solidFill>
                <a:latin typeface="Menlo"/>
              </a:rPr>
              <a:t>        // 블로킹 호출 (DB, HTTP 등)</a:t>
            </a:r>
          </a:p>
          <a:p>
            <a:pPr algn="l"/>
            <a:r>
              <a:rPr sz="1100">
                <a:solidFill>
                  <a:srgbClr val="FFFFFF"/>
                </a:solidFill>
                <a:latin typeface="Menlo"/>
              </a:rPr>
              <a:t>        Thread.</a:t>
            </a:r>
            <a:r>
              <a:rPr sz="1100">
                <a:solidFill>
                  <a:srgbClr val="60A5FA"/>
                </a:solidFill>
                <a:latin typeface="Menlo"/>
              </a:rPr>
              <a:t>sleep</a:t>
            </a:r>
            <a:r>
              <a:rPr sz="1100">
                <a:solidFill>
                  <a:srgbClr val="D1D5DB"/>
                </a:solidFill>
                <a:latin typeface="Menlo"/>
              </a:rPr>
              <a:t>(500)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    }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}</a:t>
            </a:r>
          </a:p>
          <a:p>
            <a:pPr algn="l"/>
            <a:endParaRPr sz="110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>
                <a:solidFill>
                  <a:srgbClr val="6B7280"/>
                </a:solidFill>
                <a:latin typeface="Menlo"/>
              </a:rPr>
              <a:t>// 10,000개 버츄얼 스레드에서 동시에 호출</a:t>
            </a:r>
          </a:p>
          <a:p>
            <a:pPr algn="l"/>
            <a:r>
              <a:rPr sz="1100">
                <a:solidFill>
                  <a:srgbClr val="60A5FA"/>
                </a:solidFill>
                <a:latin typeface="Menlo"/>
              </a:rPr>
              <a:t>repeat</a:t>
            </a:r>
            <a:r>
              <a:rPr sz="1100">
                <a:solidFill>
                  <a:srgbClr val="D1D5DB"/>
                </a:solidFill>
                <a:latin typeface="Menlo"/>
              </a:rPr>
              <a:t>(10_000) {</a:t>
            </a:r>
          </a:p>
          <a:p>
            <a:pPr algn="l"/>
            <a:r>
              <a:rPr sz="1100">
                <a:solidFill>
                  <a:srgbClr val="FFFFFF"/>
                </a:solidFill>
                <a:latin typeface="Menlo"/>
              </a:rPr>
              <a:t>    Thread.</a:t>
            </a:r>
            <a:r>
              <a:rPr sz="1100">
                <a:solidFill>
                  <a:srgbClr val="60A5FA"/>
                </a:solidFill>
                <a:latin typeface="Menlo"/>
              </a:rPr>
              <a:t>ofVirtual</a:t>
            </a:r>
            <a:r>
              <a:rPr sz="1100">
                <a:solidFill>
                  <a:srgbClr val="FFFFFF"/>
                </a:solidFill>
                <a:latin typeface="Menlo"/>
              </a:rPr>
              <a:t>().</a:t>
            </a:r>
            <a:r>
              <a:rPr sz="1100">
                <a:solidFill>
                  <a:srgbClr val="60A5FA"/>
                </a:solidFill>
                <a:latin typeface="Menlo"/>
              </a:rPr>
              <a:t>start </a:t>
            </a:r>
            <a:r>
              <a:rPr sz="1100">
                <a:solidFill>
                  <a:srgbClr val="D1D5DB"/>
                </a:solidFill>
                <a:latin typeface="Menlo"/>
              </a:rPr>
              <a:t>{ </a:t>
            </a:r>
            <a:r>
              <a:rPr sz="1100">
                <a:solidFill>
                  <a:srgbClr val="60A5FA"/>
                </a:solidFill>
                <a:latin typeface="Menlo"/>
              </a:rPr>
              <a:t>handle</a:t>
            </a:r>
            <a:r>
              <a:rPr sz="1100">
                <a:solidFill>
                  <a:srgbClr val="D1D5DB"/>
                </a:solidFill>
                <a:latin typeface="Menlo"/>
              </a:rPr>
              <a:t>() }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Carrier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01168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69480" y="213055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1396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2140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Pretendard"/>
              </a:rPr>
              <a:t>버츄얼 스레드 #7  </a:t>
            </a:r>
            <a:r>
              <a:rPr sz="1200" b="1" i="0">
                <a:solidFill>
                  <a:srgbClr val="FCA5A5"/>
                </a:solidFill>
                <a:latin typeface="Pretendard"/>
              </a:rPr>
              <a:t>PINNED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670048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9480" y="2788920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27980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797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Pretendard"/>
              </a:rPr>
              <a:t>버츄얼 스레드 #11  </a:t>
            </a:r>
            <a:r>
              <a:rPr sz="1200" b="1" i="0">
                <a:solidFill>
                  <a:srgbClr val="FCA5A5"/>
                </a:solidFill>
                <a:latin typeface="Pretendard"/>
              </a:rPr>
              <a:t>PINNED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328416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69480" y="3447288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45643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3814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Pretendard"/>
              </a:rPr>
              <a:t>버츄얼 스레드 #23  </a:t>
            </a:r>
            <a:r>
              <a:rPr sz="1200" b="1" i="0">
                <a:solidFill>
                  <a:srgbClr val="FCA5A5"/>
                </a:solidFill>
                <a:latin typeface="Pretendard"/>
              </a:rPr>
              <a:t>PINNED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986784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69480" y="4105656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41148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Pretendard"/>
              </a:rPr>
              <a:t>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965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Pretendard"/>
              </a:rPr>
              <a:t>버츄얼 스레드 #31  </a:t>
            </a:r>
            <a:r>
              <a:rPr sz="1200" b="1" i="0">
                <a:solidFill>
                  <a:srgbClr val="FCA5A5"/>
                </a:solidFill>
                <a:latin typeface="Pretendard"/>
              </a:rPr>
              <a:t>PINNED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0292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51206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Pretendard"/>
              </a:rPr>
              <a:t>모든 carrier가 synchronized 안에서 잠들어 있음 → 나머지 9,996개 버츄얼 스레드는 대기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synchronized = OS 스레드 단위 락 → </a:t>
            </a:r>
            <a:r>
              <a:rPr sz="1300" b="1" i="0">
                <a:solidFill>
                  <a:srgbClr val="F87171"/>
                </a:solidFill>
                <a:latin typeface="Pretendard"/>
              </a:rPr>
              <a:t>park() 불가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 → carrier가 고정되어 </a:t>
            </a:r>
            <a:r>
              <a:rPr sz="1300" b="1" i="0">
                <a:solidFill>
                  <a:srgbClr val="F87171"/>
                </a:solidFill>
                <a:latin typeface="Pretendard"/>
              </a:rPr>
              <a:t>멜트다운 재연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Pretendard"/>
              </a:rPr>
              <a:t>피닝 ② / JDK 25의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JDK 25에서 피닝이 사라졌다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17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1201400" cy="11887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피닝이란?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D1D5DB"/>
                </a:solidFill>
                <a:latin typeface="Pretendard"/>
              </a:rPr>
              <a:t>synchronized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블록에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진입한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버츄얼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스레드가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carrier(OS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스레드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)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에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고정되어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park()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으로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빠져나오지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못하는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현상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.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carrier가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해방되지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않으니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다른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버츄얼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스레드가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올라타지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D1D5DB"/>
                </a:solidFill>
                <a:latin typeface="Pretendard"/>
              </a:rPr>
              <a:t>못한다</a:t>
            </a:r>
            <a:r>
              <a:rPr sz="1200" b="0" dirty="0">
                <a:solidFill>
                  <a:srgbClr val="D1D5DB"/>
                </a:solidFill>
                <a:latin typeface="Pretendard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450A0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87171"/>
                </a:solidFill>
                <a:latin typeface="Pretendard"/>
              </a:rPr>
              <a:t>JDK 21 — 피닝 존재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3291840"/>
            <a:ext cx="1097280" cy="0"/>
          </a:xfrm>
          <a:prstGeom prst="line">
            <a:avLst/>
          </a:prstGeom>
          <a:ln w="25400">
            <a:solidFill>
              <a:srgbClr val="9CA3A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297180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52E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Pretendard"/>
              </a:rPr>
              <a:t>JDK 25 — 피닝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632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JEP 491 — synchronized 네이티브 모니터 재작성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9CA3AF"/>
                </a:solidFill>
                <a:latin typeface="Pretendard"/>
              </a:rPr>
              <a:t>실제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테스트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 — 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캐리어 스레드 </a:t>
            </a:r>
            <a:r>
              <a:rPr lang="en-US" altLang="ko-KR" sz="1200" b="1" dirty="0">
                <a:solidFill>
                  <a:srgbClr val="9CA3AF"/>
                </a:solidFill>
                <a:latin typeface="Pretendard"/>
              </a:rPr>
              <a:t>1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개</a:t>
            </a:r>
            <a:r>
              <a:rPr lang="en-US" altLang="ko-KR" sz="1200" b="1" dirty="0">
                <a:solidFill>
                  <a:srgbClr val="9CA3AF"/>
                </a:solidFill>
                <a:latin typeface="Pretendard"/>
              </a:rPr>
              <a:t>,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버츄얼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스레드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lang="en-US" altLang="ko-KR" sz="1200" b="1" dirty="0">
                <a:solidFill>
                  <a:srgbClr val="9CA3AF"/>
                </a:solidFill>
                <a:latin typeface="Pretendard"/>
              </a:rPr>
              <a:t>10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개로 테스트</a:t>
            </a:r>
            <a:r>
              <a:rPr lang="en-US" altLang="ko-KR" sz="1200" b="1" dirty="0">
                <a:solidFill>
                  <a:srgbClr val="9CA3AF"/>
                </a:solidFill>
                <a:latin typeface="Pretendard"/>
              </a:rPr>
              <a:t>,</a:t>
            </a:r>
            <a:r>
              <a:rPr lang="ko-KR" altLang="en-US" sz="1200" b="1" dirty="0">
                <a:solidFill>
                  <a:srgbClr val="9CA3AF"/>
                </a:solidFill>
                <a:latin typeface="Pretendard"/>
              </a:rPr>
              <a:t>  </a:t>
            </a:r>
            <a:r>
              <a:rPr lang="en-US" altLang="ko-KR" sz="1200" b="1" dirty="0">
                <a:solidFill>
                  <a:srgbClr val="9CA3AF"/>
                </a:solidFill>
                <a:latin typeface="Pretendard"/>
              </a:rPr>
              <a:t>S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ynchronized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블록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안에서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9CA3AF"/>
                </a:solidFill>
                <a:latin typeface="Pretendard"/>
              </a:rPr>
              <a:t>Thread.sleep</a:t>
            </a:r>
            <a:r>
              <a:rPr sz="1200" b="1" dirty="0">
                <a:solidFill>
                  <a:srgbClr val="9CA3AF"/>
                </a:solidFill>
                <a:latin typeface="Pretendard"/>
              </a:rPr>
              <a:t>(1초)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JDK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920" y="4798814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dirty="0">
                <a:solidFill>
                  <a:srgbClr val="F87171"/>
                </a:solidFill>
                <a:latin typeface="Pretendard"/>
              </a:rPr>
              <a:t>~</a:t>
            </a:r>
            <a:r>
              <a:rPr lang="en-US" altLang="ko-KR" sz="5200" b="1" dirty="0">
                <a:solidFill>
                  <a:srgbClr val="F87171"/>
                </a:solidFill>
                <a:latin typeface="Pretendard"/>
              </a:rPr>
              <a:t>10</a:t>
            </a:r>
            <a:r>
              <a:rPr sz="5200" b="1" dirty="0">
                <a:solidFill>
                  <a:srgbClr val="F87171"/>
                </a:solidFill>
                <a:latin typeface="Pretendard"/>
              </a:rPr>
              <a:t>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16052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JDK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7200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34D399"/>
                </a:solidFill>
                <a:latin typeface="Pretendard"/>
              </a:rPr>
              <a:t>~1초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577840"/>
            <a:ext cx="5212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BBF7D0"/>
                </a:solidFill>
                <a:latin typeface="Pretendard"/>
              </a:rPr>
              <a:t>synchronized </a:t>
            </a:r>
            <a:r>
              <a:rPr sz="1100" b="0" dirty="0" err="1">
                <a:solidFill>
                  <a:srgbClr val="BBF7D0"/>
                </a:solidFill>
                <a:latin typeface="Pretendard"/>
              </a:rPr>
              <a:t>안에서도</a:t>
            </a:r>
            <a:r>
              <a:rPr sz="1100" b="0" dirty="0">
                <a:solidFill>
                  <a:srgbClr val="BBF7D0"/>
                </a:solidFill>
                <a:latin typeface="Pretendard"/>
              </a:rPr>
              <a:t> park() </a:t>
            </a:r>
            <a:r>
              <a:rPr sz="1100" b="0" dirty="0" err="1">
                <a:solidFill>
                  <a:srgbClr val="BBF7D0"/>
                </a:solidFill>
                <a:latin typeface="Pretendard"/>
              </a:rPr>
              <a:t>가능</a:t>
            </a:r>
            <a:endParaRPr sz="1100" b="0" dirty="0">
              <a:solidFill>
                <a:srgbClr val="BBF7D0"/>
              </a:solidFill>
              <a:latin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피닝 해결 = </a:t>
            </a:r>
            <a:r>
              <a:rPr sz="1300" b="1" i="0">
                <a:solidFill>
                  <a:srgbClr val="34D399"/>
                </a:solidFill>
                <a:latin typeface="Pretendard"/>
              </a:rPr>
              <a:t>생태계 제약(단점 ③)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 + </a:t>
            </a:r>
            <a:r>
              <a:rPr sz="1300" b="1" i="0">
                <a:solidFill>
                  <a:srgbClr val="34D399"/>
                </a:solidFill>
                <a:latin typeface="Pretendard"/>
              </a:rPr>
              <a:t>멜트다운 위험(단점 ②)</a:t>
            </a:r>
            <a:r>
              <a:rPr sz="1300" b="0" i="0">
                <a:solidFill>
                  <a:srgbClr val="D1D5DB"/>
                </a:solidFill>
                <a:latin typeface="Pretendard"/>
              </a:rPr>
              <a:t> 동시에 풀리는 전환점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solidFill>
                  <a:srgbClr val="34D399"/>
                </a:solidFill>
                <a:latin typeface="Pretendard"/>
              </a:rPr>
              <a:t>단점</a:t>
            </a:r>
            <a:r>
              <a:rPr sz="1100" b="1" dirty="0">
                <a:solidFill>
                  <a:srgbClr val="34D399"/>
                </a:solidFill>
                <a:latin typeface="Pretendard"/>
              </a:rPr>
              <a:t> ③ / </a:t>
            </a:r>
            <a:r>
              <a:rPr sz="1100" b="1" dirty="0" err="1">
                <a:solidFill>
                  <a:srgbClr val="34D399"/>
                </a:solidFill>
                <a:latin typeface="Pretendard"/>
              </a:rPr>
              <a:t>생태계</a:t>
            </a:r>
            <a:r>
              <a:rPr sz="1100" b="1" dirty="0">
                <a:solidFill>
                  <a:srgbClr val="34D399"/>
                </a:solidFill>
                <a:latin typeface="Pretendard"/>
              </a:rPr>
              <a:t> </a:t>
            </a:r>
            <a:r>
              <a:rPr sz="1100" b="1" dirty="0" err="1">
                <a:solidFill>
                  <a:srgbClr val="34D399"/>
                </a:solidFill>
                <a:latin typeface="Pretendard"/>
              </a:rPr>
              <a:t>제약</a:t>
            </a:r>
            <a:r>
              <a:rPr sz="1100" b="1" dirty="0">
                <a:solidFill>
                  <a:srgbClr val="34D399"/>
                </a:solidFill>
                <a:latin typeface="Pretendard"/>
              </a:rPr>
              <a:t> </a:t>
            </a:r>
            <a:r>
              <a:rPr sz="1100" b="1" dirty="0" err="1">
                <a:solidFill>
                  <a:srgbClr val="34D399"/>
                </a:solidFill>
                <a:latin typeface="Pretendard"/>
              </a:rPr>
              <a:t>해소</a:t>
            </a:r>
            <a:endParaRPr sz="1100" b="1" dirty="0">
              <a:solidFill>
                <a:srgbClr val="34D399"/>
              </a:solidFill>
              <a:latin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06791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Pretendard"/>
              </a:rPr>
              <a:t>이제는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외부</a:t>
            </a:r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클라이언트를 </a:t>
            </a:r>
            <a:r>
              <a:rPr lang="ko-KR" altLang="en-US" sz="2800" b="1" dirty="0" err="1">
                <a:solidFill>
                  <a:srgbClr val="FFFFFF"/>
                </a:solidFill>
                <a:latin typeface="Pretendard"/>
              </a:rPr>
              <a:t>신경쓰지</a:t>
            </a: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lang="ko-KR" altLang="en-US" sz="2800" b="1" dirty="0" err="1">
                <a:solidFill>
                  <a:srgbClr val="FFFFFF"/>
                </a:solidFill>
                <a:latin typeface="Pretendard"/>
              </a:rPr>
              <a:t>않아도된다</a:t>
            </a:r>
            <a:r>
              <a:rPr lang="en-US" altLang="ko-KR" sz="2800" b="1" dirty="0">
                <a:solidFill>
                  <a:srgbClr val="FFFFFF"/>
                </a:solidFill>
                <a:latin typeface="Pretendard"/>
              </a:rPr>
              <a:t>.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18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486400" cy="429768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WebFlux 시절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R2DBC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강제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JDBC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17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블로킹 → 사용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기존 HTTP 클라이언트 (OkHttp, Apache)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11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WebClient로 이관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블로킹 메시지 라이브러리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06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논블로킹 버전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Pretendard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00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팀이 쓰던 캐시·메트릭·로깅 라이브러리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6220" y="481676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 err="1">
                <a:solidFill>
                  <a:srgbClr val="9CA3AF"/>
                </a:solidFill>
                <a:latin typeface="Pretendard"/>
              </a:rPr>
              <a:t>호환</a:t>
            </a:r>
            <a:r>
              <a:rPr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9CA3AF"/>
                </a:solidFill>
                <a:latin typeface="Pretendard"/>
              </a:rPr>
              <a:t>확인</a:t>
            </a:r>
            <a:r>
              <a:rPr sz="1100" b="0" dirty="0">
                <a:solidFill>
                  <a:srgbClr val="9CA3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9CA3AF"/>
                </a:solidFill>
                <a:latin typeface="Pretendard"/>
              </a:rPr>
              <a:t>필요</a:t>
            </a:r>
            <a:endParaRPr sz="1100" b="0" dirty="0">
              <a:solidFill>
                <a:srgbClr val="9CA3AF"/>
              </a:solidFill>
              <a:latin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5080" y="1737360"/>
            <a:ext cx="5486400" cy="429768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87451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버츄얼 스레드 (JDK 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423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JDBC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투명하게 park()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017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OkHttp / Apache HttpClient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그대로 사용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66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블로킹 I/O 전반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6118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JVM이 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206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기존 라이브러리 생태계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206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거의 그대로 재사용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754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800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synchronized 기반 라이브러리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JDK 25 피닝 해결로 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3">
            <a:extLst>
              <a:ext uri="{FF2B5EF4-FFF2-40B4-BE49-F238E27FC236}">
                <a16:creationId xmlns:a16="http://schemas.microsoft.com/office/drawing/2014/main" id="{339DAB36-ED17-32A2-A0E6-C90886A1ECF0}"/>
              </a:ext>
            </a:extLst>
          </p:cNvPr>
          <p:cNvSpPr/>
          <p:nvPr/>
        </p:nvSpPr>
        <p:spPr>
          <a:xfrm>
            <a:off x="9326880" y="3044952"/>
            <a:ext cx="164592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검증 / 부하테스트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Pretendard"/>
              </a:rPr>
              <a:t>실제로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어떻게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다른가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— 1,000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요청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외부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API 3초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Pretendard"/>
              </a:rPr>
              <a:t>조건: 요청 1,000 · 외부 API 3초 응답 · Callee Tomcat 200 · JVM 1GB · CPU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41148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103120"/>
            <a:ext cx="18288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194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9CA3AF"/>
                </a:solidFill>
                <a:latin typeface="Pretendard"/>
              </a:rPr>
              <a:t>소요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103120"/>
            <a:ext cx="13716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1945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9CA3AF"/>
                </a:solidFill>
                <a:latin typeface="Pretendard"/>
              </a:rPr>
              <a:t>성공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2103120"/>
            <a:ext cx="13716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9CA3AF"/>
                </a:solidFill>
                <a:latin typeface="Pretendard"/>
              </a:rPr>
              <a:t>실패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103120"/>
            <a:ext cx="164592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9CA3AF"/>
                </a:solidFill>
                <a:latin typeface="Pretendard"/>
              </a:rPr>
              <a:t>성공률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41148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670048"/>
            <a:ext cx="4114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/>
              </a:rPr>
              <a:t>ThreadPool</a:t>
            </a:r>
            <a:r>
              <a:rPr sz="1300" b="1" dirty="0">
                <a:solidFill>
                  <a:srgbClr val="FFFFFF"/>
                </a:solidFill>
                <a:latin typeface="Pretendard"/>
              </a:rPr>
              <a:t>(100)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560320"/>
            <a:ext cx="18288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2670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30초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60320"/>
            <a:ext cx="13716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670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1,000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560320"/>
            <a:ext cx="13716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2670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2560320"/>
            <a:ext cx="164592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27166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dirty="0">
                <a:solidFill>
                  <a:srgbClr val="34D399"/>
                </a:solidFill>
                <a:latin typeface="Pretendard"/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63240"/>
            <a:ext cx="41148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172968"/>
            <a:ext cx="4114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00" b="1" dirty="0" err="1">
                <a:solidFill>
                  <a:srgbClr val="FFFFFF"/>
                </a:solidFill>
                <a:latin typeface="Pretendard"/>
              </a:rPr>
              <a:t>버츄얼</a:t>
            </a:r>
            <a:r>
              <a:rPr lang="ko-KR" altLang="en-US" sz="1300" b="1" dirty="0">
                <a:solidFill>
                  <a:srgbClr val="FFFFFF"/>
                </a:solidFill>
                <a:latin typeface="Pretendard"/>
              </a:rPr>
              <a:t> 스레드 </a:t>
            </a:r>
            <a:r>
              <a:rPr lang="en-US" altLang="ko-KR" sz="1300" b="1" dirty="0">
                <a:solidFill>
                  <a:srgbClr val="FFFFFF"/>
                </a:solidFill>
                <a:latin typeface="Pretendard"/>
              </a:rPr>
              <a:t>+ </a:t>
            </a:r>
            <a:r>
              <a:rPr lang="en" altLang="ko-KR" sz="1300" b="1" dirty="0">
                <a:solidFill>
                  <a:srgbClr val="FFFFFF"/>
                </a:solidFill>
                <a:latin typeface="Pretendard"/>
              </a:rPr>
              <a:t>Semaphore(100)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063240"/>
            <a:ext cx="18288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317296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300" dirty="0">
                <a:solidFill>
                  <a:srgbClr val="FFFFFF"/>
                </a:solidFill>
                <a:latin typeface="Pretendard"/>
              </a:rPr>
              <a:t>30</a:t>
            </a:r>
            <a:r>
              <a:rPr lang="ko-KR" altLang="en-US" sz="1300" dirty="0">
                <a:solidFill>
                  <a:srgbClr val="FFFFFF"/>
                </a:solidFill>
                <a:latin typeface="Pretendard"/>
              </a:rPr>
              <a:t>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063240"/>
            <a:ext cx="13716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31729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300" dirty="0">
                <a:solidFill>
                  <a:srgbClr val="FFFFFF"/>
                </a:solidFill>
                <a:latin typeface="Pretendard"/>
              </a:rPr>
              <a:t>1,000</a:t>
            </a:r>
            <a:endParaRPr sz="1300" b="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955280" y="3063240"/>
            <a:ext cx="137160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31729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300" dirty="0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5460" y="3145536"/>
            <a:ext cx="1645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300" b="1" dirty="0">
                <a:solidFill>
                  <a:srgbClr val="34D399"/>
                </a:solidFill>
                <a:latin typeface="Pretendard"/>
              </a:rPr>
              <a:t>100%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06908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Pretendard"/>
              </a:rPr>
              <a:t>메모리 사용량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480560"/>
            <a:ext cx="10058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D1D5DB"/>
                </a:solidFill>
                <a:latin typeface="Pretendard"/>
              </a:rPr>
              <a:t>• </a:t>
            </a:r>
            <a:r>
              <a:rPr sz="1200" b="0" i="0" dirty="0" err="1">
                <a:solidFill>
                  <a:srgbClr val="D1D5DB"/>
                </a:solidFill>
                <a:latin typeface="Pretendard"/>
              </a:rPr>
              <a:t>ThreadPool</a:t>
            </a:r>
            <a:r>
              <a:rPr sz="1200" b="0" i="0" dirty="0">
                <a:solidFill>
                  <a:srgbClr val="D1D5DB"/>
                </a:solidFill>
                <a:latin typeface="Pretendard"/>
              </a:rPr>
              <a:t>: </a:t>
            </a:r>
            <a:r>
              <a:rPr sz="1200" b="1" i="0" dirty="0">
                <a:solidFill>
                  <a:srgbClr val="FBBF24"/>
                </a:solidFill>
                <a:latin typeface="Pretendard"/>
              </a:rPr>
              <a:t>OS </a:t>
            </a:r>
            <a:r>
              <a:rPr sz="1200" b="1" i="0" dirty="0" err="1">
                <a:solidFill>
                  <a:srgbClr val="FBBF24"/>
                </a:solidFill>
                <a:latin typeface="Pretendard"/>
              </a:rPr>
              <a:t>스레드</a:t>
            </a:r>
            <a:r>
              <a:rPr sz="1200" b="1" i="0" dirty="0">
                <a:solidFill>
                  <a:srgbClr val="FBBF24"/>
                </a:solidFill>
                <a:latin typeface="Pretendard"/>
              </a:rPr>
              <a:t> +100, </a:t>
            </a:r>
            <a:r>
              <a:rPr sz="1200" b="1" i="0" dirty="0" err="1">
                <a:solidFill>
                  <a:srgbClr val="FBBF24"/>
                </a:solidFill>
                <a:latin typeface="Pretendard"/>
              </a:rPr>
              <a:t>네이티브</a:t>
            </a:r>
            <a:r>
              <a:rPr sz="1200" b="1" i="0" dirty="0">
                <a:solidFill>
                  <a:srgbClr val="FBBF24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rgbClr val="FBBF24"/>
                </a:solidFill>
                <a:latin typeface="Pretendard"/>
              </a:rPr>
              <a:t>메모리</a:t>
            </a:r>
            <a:r>
              <a:rPr sz="1200" b="1" i="0" dirty="0">
                <a:solidFill>
                  <a:srgbClr val="FBBF24"/>
                </a:solidFill>
                <a:latin typeface="Pretendard"/>
              </a:rPr>
              <a:t> +100MB</a:t>
            </a:r>
            <a:r>
              <a:rPr lang="ko-KR" altLang="en-US" sz="1200" b="1" i="0" dirty="0">
                <a:solidFill>
                  <a:srgbClr val="FBBF24"/>
                </a:solidFill>
                <a:latin typeface="Pretendard"/>
              </a:rPr>
              <a:t> </a:t>
            </a:r>
            <a:r>
              <a:rPr lang="en-US" altLang="ko-KR" sz="1200" b="1" i="0" dirty="0">
                <a:solidFill>
                  <a:srgbClr val="FBBF24"/>
                </a:solidFill>
                <a:latin typeface="Pretendard"/>
              </a:rPr>
              <a:t>-&gt;</a:t>
            </a:r>
            <a:r>
              <a:rPr lang="ko-KR" altLang="en-US" sz="1200" b="1" i="0" dirty="0">
                <a:solidFill>
                  <a:srgbClr val="FBBF24"/>
                </a:solidFill>
                <a:latin typeface="Pretendard"/>
              </a:rPr>
              <a:t> 스레드 </a:t>
            </a:r>
            <a:r>
              <a:rPr lang="en-US" altLang="ko-KR" sz="1200" b="1" i="0" dirty="0">
                <a:solidFill>
                  <a:srgbClr val="FBBF24"/>
                </a:solidFill>
                <a:latin typeface="Pretendard"/>
              </a:rPr>
              <a:t>100</a:t>
            </a:r>
            <a:r>
              <a:rPr lang="ko-KR" altLang="en-US" sz="1200" b="1" i="0" dirty="0">
                <a:solidFill>
                  <a:srgbClr val="FBBF24"/>
                </a:solidFill>
                <a:latin typeface="Pretendard"/>
              </a:rPr>
              <a:t>개 사용됨</a:t>
            </a:r>
            <a:endParaRPr lang="en-US" altLang="ko-KR" sz="1200" b="1" i="0" dirty="0">
              <a:solidFill>
                <a:srgbClr val="FBBF24"/>
              </a:solidFill>
              <a:latin typeface="Pretendard"/>
            </a:endParaRPr>
          </a:p>
          <a:p>
            <a:pPr algn="l"/>
            <a:r>
              <a:rPr lang="ko-KR" altLang="en-US" sz="1200" b="0" i="0" dirty="0">
                <a:solidFill>
                  <a:srgbClr val="D1D5DB"/>
                </a:solidFill>
                <a:latin typeface="Pretendard"/>
              </a:rPr>
              <a:t>
</a:t>
            </a:r>
            <a:r>
              <a:rPr sz="1200" b="0" i="0" dirty="0">
                <a:solidFill>
                  <a:srgbClr val="D1D5DB"/>
                </a:solidFill>
                <a:latin typeface="Pretendard"/>
              </a:rPr>
              <a:t>• </a:t>
            </a:r>
            <a:r>
              <a:rPr sz="1200" b="0" i="0" dirty="0" err="1">
                <a:solidFill>
                  <a:srgbClr val="D1D5DB"/>
                </a:solidFill>
                <a:latin typeface="Pretendard"/>
              </a:rPr>
              <a:t>버츄얼</a:t>
            </a:r>
            <a:r>
              <a:rPr sz="1200" b="0" i="0" dirty="0">
                <a:solidFill>
                  <a:srgbClr val="D1D5DB"/>
                </a:solidFill>
                <a:latin typeface="Pretendard"/>
              </a:rPr>
              <a:t> </a:t>
            </a:r>
            <a:r>
              <a:rPr sz="1200" b="0" i="0" dirty="0" err="1">
                <a:solidFill>
                  <a:srgbClr val="D1D5DB"/>
                </a:solidFill>
                <a:latin typeface="Pretendard"/>
              </a:rPr>
              <a:t>스레드</a:t>
            </a:r>
            <a:r>
              <a:rPr sz="1200" b="0" i="0" dirty="0">
                <a:solidFill>
                  <a:srgbClr val="D1D5DB"/>
                </a:solidFill>
                <a:latin typeface="Pretendard"/>
              </a:rPr>
              <a:t> + Semaphore: </a:t>
            </a:r>
            <a:r>
              <a:rPr sz="1200" b="1" i="0" dirty="0">
                <a:solidFill>
                  <a:srgbClr val="60A5FA"/>
                </a:solidFill>
                <a:latin typeface="Pretendard"/>
              </a:rPr>
              <a:t>OS </a:t>
            </a:r>
            <a:r>
              <a:rPr sz="1200" b="1" i="0" dirty="0" err="1">
                <a:solidFill>
                  <a:srgbClr val="60A5FA"/>
                </a:solidFill>
                <a:latin typeface="Pretendard"/>
              </a:rPr>
              <a:t>스레드</a:t>
            </a:r>
            <a:r>
              <a:rPr sz="1200" b="1" i="0" dirty="0">
                <a:solidFill>
                  <a:srgbClr val="60A5FA"/>
                </a:solidFill>
                <a:latin typeface="Pretendard"/>
              </a:rPr>
              <a:t> +10 (</a:t>
            </a:r>
            <a:r>
              <a:rPr sz="1200" b="1" i="0" dirty="0" err="1">
                <a:solidFill>
                  <a:srgbClr val="60A5FA"/>
                </a:solidFill>
                <a:latin typeface="Pretendard"/>
              </a:rPr>
              <a:t>carrier만</a:t>
            </a:r>
            <a:r>
              <a:rPr sz="1200" b="1" i="0" dirty="0">
                <a:solidFill>
                  <a:srgbClr val="60A5FA"/>
                </a:solidFill>
                <a:latin typeface="Pretendard"/>
              </a:rPr>
              <a:t>), </a:t>
            </a:r>
            <a:r>
              <a:rPr sz="1200" b="1" i="0" dirty="0" err="1">
                <a:solidFill>
                  <a:srgbClr val="60A5FA"/>
                </a:solidFill>
                <a:latin typeface="Pretendard"/>
              </a:rPr>
              <a:t>네이티브</a:t>
            </a:r>
            <a:r>
              <a:rPr sz="1200" b="1" i="0" dirty="0">
                <a:solidFill>
                  <a:srgbClr val="60A5FA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rgbClr val="60A5FA"/>
                </a:solidFill>
                <a:latin typeface="Pretendard"/>
              </a:rPr>
              <a:t>메모리</a:t>
            </a:r>
            <a:r>
              <a:rPr sz="1200" b="1" i="0" dirty="0">
                <a:solidFill>
                  <a:srgbClr val="60A5FA"/>
                </a:solidFill>
                <a:latin typeface="Pretendard"/>
              </a:rPr>
              <a:t> +10MB</a:t>
            </a:r>
            <a:r>
              <a:rPr lang="ko-KR" altLang="en-US" sz="1200" b="1" i="0" dirty="0">
                <a:solidFill>
                  <a:srgbClr val="60A5FA"/>
                </a:solidFill>
                <a:latin typeface="Pretendard"/>
              </a:rPr>
              <a:t> </a:t>
            </a:r>
            <a:r>
              <a:rPr lang="en-US" altLang="ko-KR" sz="1200" b="1" i="0" dirty="0">
                <a:solidFill>
                  <a:srgbClr val="60A5FA"/>
                </a:solidFill>
                <a:latin typeface="Pretendard"/>
              </a:rPr>
              <a:t>-&gt;</a:t>
            </a:r>
            <a:r>
              <a:rPr lang="ko-KR" altLang="en-US" sz="1200" b="1" i="0" dirty="0">
                <a:solidFill>
                  <a:srgbClr val="60A5FA"/>
                </a:solidFill>
                <a:latin typeface="Pretendard"/>
              </a:rPr>
              <a:t> 스레드 </a:t>
            </a:r>
            <a:r>
              <a:rPr lang="en-US" altLang="ko-KR" sz="1200" b="1" i="0" dirty="0">
                <a:solidFill>
                  <a:srgbClr val="60A5FA"/>
                </a:solidFill>
                <a:latin typeface="Pretendard"/>
              </a:rPr>
              <a:t>10</a:t>
            </a:r>
            <a:r>
              <a:rPr lang="ko-KR" altLang="en-US" sz="1200" b="1" i="0" dirty="0">
                <a:solidFill>
                  <a:srgbClr val="60A5FA"/>
                </a:solidFill>
                <a:latin typeface="Pretendard"/>
              </a:rPr>
              <a:t>개만 사용됨</a:t>
            </a:r>
            <a:endParaRPr lang="en-US" altLang="ko-KR" sz="1200" b="1" i="0" dirty="0">
              <a:solidFill>
                <a:srgbClr val="60A5FA"/>
              </a:solidFill>
              <a:latin typeface="Pretendard"/>
            </a:endParaRPr>
          </a:p>
          <a:p>
            <a:pPr algn="l"/>
            <a:endParaRPr sz="1200" b="1" i="0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Pretendard"/>
              </a:rPr>
              <a:t>실전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버츄얼 스레드를 실제로 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20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Pretendard"/>
              </a:rPr>
              <a:t>① 전역 활성화는 피한다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120640" cy="4572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BBF24"/>
                </a:solidFill>
                <a:latin typeface="Menlo"/>
              </a:rPr>
              <a:t>spring.threads.virtual.enabled=true</a:t>
            </a:r>
            <a:r>
              <a:rPr sz="1100">
                <a:solidFill>
                  <a:srgbClr val="F87171"/>
                </a:solidFill>
                <a:latin typeface="Menlo"/>
              </a:rPr>
              <a:t>  ←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Pretendard"/>
              </a:rPr>
              <a:t>Tomcat 워커 전체가 버츄얼 스레드화 → 모든 다운스트림 호출이 동시에 폭주. 한 엔드포인트 버그가 다운스트림 전체를 끌어내릴 수 있음.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Pretendard"/>
              </a:rPr>
              <a:t>② 필요한 코드 경로에만 국소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9456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304288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Menlo"/>
              </a:rPr>
              <a:t>val executor = Executors.</a:t>
            </a:r>
            <a:r>
              <a:rPr sz="1100">
                <a:solidFill>
                  <a:srgbClr val="60A5FA"/>
                </a:solidFill>
                <a:latin typeface="Menlo"/>
              </a:rPr>
              <a:t>newVirtualThreadPerTaskExecutor</a:t>
            </a:r>
            <a:r>
              <a:rPr sz="110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r>
              <a:rPr sz="1100">
                <a:solidFill>
                  <a:srgbClr val="6B7280"/>
                </a:solidFill>
                <a:latin typeface="Menlo"/>
              </a:rPr>
              <a:t>// 또는 Spring </a:t>
            </a:r>
            <a:r>
              <a:rPr sz="1100">
                <a:solidFill>
                  <a:srgbClr val="C084FC"/>
                </a:solidFill>
                <a:latin typeface="Menlo"/>
              </a:rPr>
              <a:t>@Async("vt")</a:t>
            </a:r>
            <a:r>
              <a:rPr sz="1100">
                <a:solidFill>
                  <a:srgbClr val="6B7280"/>
                </a:solidFill>
                <a:latin typeface="Menlo"/>
              </a:rPr>
              <a:t> 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0040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Pretendard"/>
              </a:rPr>
              <a:t>외부 호출이 필요한 특정 서비스·메서드에만 한정 적용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1201400" cy="2103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Pretendard"/>
              </a:rPr>
              <a:t>③ 외부 호출 경계에 Semaphore로 상한을 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10789920" cy="118872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private val </a:t>
            </a:r>
            <a:r>
              <a:rPr sz="1100">
                <a:solidFill>
                  <a:srgbClr val="FFFFFF"/>
                </a:solidFill>
                <a:latin typeface="Menlo"/>
              </a:rPr>
              <a:t>sem </a:t>
            </a:r>
            <a:r>
              <a:rPr sz="1100">
                <a:solidFill>
                  <a:srgbClr val="D1D5DB"/>
                </a:solidFill>
                <a:latin typeface="Menlo"/>
              </a:rPr>
              <a:t>= </a:t>
            </a:r>
            <a:r>
              <a:rPr sz="1100">
                <a:solidFill>
                  <a:srgbClr val="60A5FA"/>
                </a:solidFill>
                <a:latin typeface="Menlo"/>
              </a:rPr>
              <a:t>Semaphore</a:t>
            </a:r>
            <a:r>
              <a:rPr sz="1100">
                <a:solidFill>
                  <a:srgbClr val="D1D5DB"/>
                </a:solidFill>
                <a:latin typeface="Menlo"/>
              </a:rPr>
              <a:t>(100)</a:t>
            </a:r>
          </a:p>
          <a:p>
            <a:pPr algn="l"/>
            <a:endParaRPr sz="110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fun </a:t>
            </a:r>
            <a:r>
              <a:rPr sz="1100">
                <a:solidFill>
                  <a:srgbClr val="60A5FA"/>
                </a:solidFill>
                <a:latin typeface="Menlo"/>
              </a:rPr>
              <a:t>callExternal</a:t>
            </a:r>
            <a:r>
              <a:rPr sz="1100">
                <a:solidFill>
                  <a:srgbClr val="FFFFFF"/>
                </a:solidFill>
                <a:latin typeface="Menlo"/>
              </a:rPr>
              <a:t>() = sem.</a:t>
            </a:r>
            <a:r>
              <a:rPr sz="1100">
                <a:solidFill>
                  <a:srgbClr val="60A5FA"/>
                </a:solidFill>
                <a:latin typeface="Menlo"/>
              </a:rPr>
              <a:t>withPermit </a:t>
            </a:r>
            <a:r>
              <a:rPr sz="110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FFFFFF"/>
                </a:solidFill>
                <a:latin typeface="Menlo"/>
              </a:rPr>
              <a:t>    externalApi.</a:t>
            </a:r>
            <a:r>
              <a:rPr sz="1100">
                <a:solidFill>
                  <a:srgbClr val="60A5FA"/>
                </a:solidFill>
                <a:latin typeface="Menlo"/>
              </a:rPr>
              <a:t>call</a:t>
            </a:r>
            <a:r>
              <a:rPr sz="1100">
                <a:solidFill>
                  <a:srgbClr val="D1D5DB"/>
                </a:solidFill>
                <a:latin typeface="Menlo"/>
              </a:rPr>
              <a:t>()</a:t>
            </a:r>
            <a:r>
              <a:rPr sz="1100">
                <a:solidFill>
                  <a:srgbClr val="6B7280"/>
                </a:solidFill>
                <a:latin typeface="Menlo"/>
              </a:rPr>
              <a:t>  // 동시 100개까지만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자바 공식 문서·JEP도 동일한 패턴 권장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동시성은 쉬워졌지만 </a:t>
            </a:r>
            <a:r>
              <a:rPr sz="1300" b="1" i="0">
                <a:solidFill>
                  <a:srgbClr val="F87171"/>
                </a:solidFill>
                <a:latin typeface="Pretendard"/>
              </a:rPr>
              <a:t>"무제한 동시성"은 위험하다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보너스 ① / ScopedValue란?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ScopedValue — 스코프 단위로 살아있는 불변 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21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1201400" cy="14630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특정 스코프(블록) 안에서만 유효한 불변 값을 바인딩해 두는 JDK 21+ 표준 API. 바인딩 시점에 한 번 값이 정해지고 스코프 종료 시 자동으로 사라진다 — 스레드가 재사용되어도 다른 스코프로 누수되지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Pretendard"/>
              </a:rPr>
              <a:t>ThreadLocal vs ScopedValue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ThreadLocal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• 언제든 set / remove 가능 (가변)
• remove() 누락 시 스레드 재사용 경로로 값이 전파
• finally 블록, 필터 체인 등에서 실수 잦음
• 가상 스레드처럼 스레드가 많아지면 누수 영향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6576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794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ScopedValue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• 바인딩 이후 변경 불가 (불변)
• 스코프 블록 안에서만 값 조회 가능
• 블록 종료 = 자동 해제 (remove 호출 불필요)
• 컴파일러·런타임이 누수 가능성을 구조적으로 차단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요약: </a:t>
            </a:r>
            <a:r>
              <a:rPr sz="1300" b="1" i="0">
                <a:solidFill>
                  <a:srgbClr val="60A5FA"/>
                </a:solidFill>
                <a:latin typeface="Pretendard"/>
              </a:rPr>
              <a:t>스코프 들어가며 바인딩 → 블록 안에서 읽기 → 나가며 자동 소멸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보너스 ① / ScopedValue로 MDC 전파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Pretendard"/>
              </a:rPr>
              <a:t>MDC란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?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기존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방식의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누수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→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ScopedValue로</a:t>
            </a:r>
            <a:r>
              <a:rPr sz="28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Pretendard"/>
              </a:rPr>
              <a:t>해결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22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120140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Pretendard"/>
              </a:rPr>
              <a:t>MDC란?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9746"/>
            <a:ext cx="1078992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100" b="1" i="1" dirty="0">
                <a:solidFill>
                  <a:schemeClr val="bg1"/>
                </a:solidFill>
              </a:rPr>
              <a:t>현재 실행중인 쓰레드에 메타 정보를 넣고 관리하는 공간</a:t>
            </a:r>
            <a:r>
              <a:rPr lang="en-US" altLang="ko-KR" sz="1100" b="1" i="1" dirty="0">
                <a:solidFill>
                  <a:schemeClr val="bg1"/>
                </a:solidFill>
              </a:rPr>
              <a:t>  - </a:t>
            </a:r>
            <a:r>
              <a:rPr lang="en-US" altLang="ko-KR" sz="1100" b="1" i="1" dirty="0" err="1">
                <a:solidFill>
                  <a:schemeClr val="bg1"/>
                </a:solidFill>
              </a:rPr>
              <a:t>ThreadLocal</a:t>
            </a:r>
            <a:r>
              <a:rPr lang="ko-KR" altLang="en-US" sz="1100" b="1" i="1" dirty="0" err="1">
                <a:solidFill>
                  <a:schemeClr val="bg1"/>
                </a:solidFill>
              </a:rPr>
              <a:t>에</a:t>
            </a:r>
            <a:r>
              <a:rPr lang="ko-KR" altLang="en-US" sz="1100" b="1" i="1" dirty="0">
                <a:solidFill>
                  <a:schemeClr val="bg1"/>
                </a:solidFill>
              </a:rPr>
              <a:t> 저장</a:t>
            </a:r>
            <a:br>
              <a:rPr lang="en-US" altLang="ko-KR" sz="1100" b="1" i="1" dirty="0">
                <a:solidFill>
                  <a:schemeClr val="bg1"/>
                </a:solidFill>
              </a:rPr>
            </a:br>
            <a:endParaRPr lang="en-US" altLang="ko-KR" sz="1100" b="1" i="1" dirty="0">
              <a:solidFill>
                <a:schemeClr val="bg1"/>
              </a:solidFill>
            </a:endParaRPr>
          </a:p>
          <a:p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스레드가 바뀌면 값이 자동으로 </a:t>
            </a:r>
            <a:r>
              <a:rPr lang="ko-KR" altLang="en-US" sz="1100" b="1" i="1" dirty="0" err="1">
                <a:solidFill>
                  <a:schemeClr val="bg1"/>
                </a:solidFill>
                <a:latin typeface="Pretendard"/>
              </a:rPr>
              <a:t>안따라가기</a:t>
            </a:r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 때문에 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MDC</a:t>
            </a:r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 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CONTEXT</a:t>
            </a:r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전파가 필요함 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(</a:t>
            </a:r>
            <a:r>
              <a:rPr lang="en-US" altLang="ko-KR" sz="1100" b="1" i="1" dirty="0" err="1">
                <a:solidFill>
                  <a:schemeClr val="bg1"/>
                </a:solidFill>
                <a:latin typeface="Pretendard"/>
              </a:rPr>
              <a:t>traceid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,</a:t>
            </a:r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 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user info </a:t>
            </a:r>
            <a:r>
              <a:rPr lang="ko-KR" altLang="en-US" sz="1100" b="1" i="1" dirty="0">
                <a:solidFill>
                  <a:schemeClr val="bg1"/>
                </a:solidFill>
                <a:latin typeface="Pretendard"/>
              </a:rPr>
              <a:t>전파 등</a:t>
            </a:r>
            <a:r>
              <a:rPr lang="en-US" altLang="ko-KR" sz="1100" b="1" i="1" dirty="0">
                <a:solidFill>
                  <a:schemeClr val="bg1"/>
                </a:solidFill>
                <a:latin typeface="Pretendard"/>
              </a:rPr>
              <a:t>) </a:t>
            </a:r>
            <a:endParaRPr sz="1100" b="0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123411" cy="34747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기존 MDC (ThreadLocal 기반)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4644967" cy="21945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18688"/>
            <a:ext cx="4129116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 err="1">
                <a:solidFill>
                  <a:srgbClr val="FFFFFF"/>
                </a:solidFill>
                <a:latin typeface="Menlo"/>
              </a:rPr>
              <a:t>MDC.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put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>
                <a:solidFill>
                  <a:srgbClr val="FBBF24"/>
                </a:solidFill>
                <a:latin typeface="Menlo"/>
              </a:rPr>
              <a:t>"</a:t>
            </a:r>
            <a:r>
              <a:rPr lang="en-US" sz="1100" dirty="0" err="1">
                <a:solidFill>
                  <a:srgbClr val="FBBF24"/>
                </a:solidFill>
                <a:latin typeface="Menlo"/>
              </a:rPr>
              <a:t>userId</a:t>
            </a:r>
            <a:r>
              <a:rPr sz="1100" dirty="0">
                <a:solidFill>
                  <a:srgbClr val="FBBF24"/>
                </a:solidFill>
                <a:latin typeface="Menlo"/>
              </a:rPr>
              <a:t>"</a:t>
            </a:r>
            <a:r>
              <a:rPr sz="1100" dirty="0">
                <a:solidFill>
                  <a:srgbClr val="D1D5DB"/>
                </a:solidFill>
                <a:latin typeface="Menlo"/>
              </a:rPr>
              <a:t>, </a:t>
            </a:r>
            <a:r>
              <a:rPr lang="en-US" sz="1100" dirty="0" err="1">
                <a:solidFill>
                  <a:srgbClr val="D1D5DB"/>
                </a:solidFill>
                <a:latin typeface="Menlo"/>
              </a:rPr>
              <a:t>userId</a:t>
            </a:r>
            <a:r>
              <a:rPr sz="1100" dirty="0">
                <a:solidFill>
                  <a:srgbClr val="D1D5DB"/>
                </a:solidFill>
                <a:latin typeface="Menlo"/>
              </a:rPr>
              <a:t>)</a:t>
            </a:r>
          </a:p>
          <a:p>
            <a:pPr algn="l"/>
            <a:endParaRPr lang="en-US" sz="1100" dirty="0">
              <a:solidFill>
                <a:srgbClr val="C084FC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C084FC"/>
                </a:solidFill>
                <a:latin typeface="Menlo"/>
              </a:rPr>
              <a:t>try </a:t>
            </a:r>
            <a:r>
              <a:rPr sz="1100" dirty="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process()</a:t>
            </a:r>
            <a:r>
              <a:rPr lang="en-US" altLang="ko-KR" sz="1100" dirty="0">
                <a:solidFill>
                  <a:srgbClr val="FFFFFF"/>
                </a:solidFill>
                <a:latin typeface="Menlo"/>
              </a:rPr>
              <a:t>. </a:t>
            </a:r>
            <a:r>
              <a:rPr lang="ko-KR" altLang="en-US" sz="1100" dirty="0">
                <a:solidFill>
                  <a:srgbClr val="FFFFFF"/>
                </a:solidFill>
                <a:latin typeface="Menlo"/>
              </a:rPr>
              <a:t>  </a:t>
            </a:r>
            <a:r>
              <a:rPr lang="en-US" altLang="ko-KR" sz="1100" dirty="0">
                <a:solidFill>
                  <a:srgbClr val="FFFFFF"/>
                </a:solidFill>
                <a:latin typeface="Menlo"/>
              </a:rPr>
              <a:t>//</a:t>
            </a:r>
            <a:r>
              <a:rPr lang="ko-KR" altLang="en-US" sz="1100" dirty="0">
                <a:solidFill>
                  <a:srgbClr val="FFFFFF"/>
                </a:solidFill>
                <a:latin typeface="Menlo"/>
              </a:rPr>
              <a:t> </a:t>
            </a:r>
            <a:r>
              <a:rPr lang="en-US" altLang="ko-KR" sz="1100" dirty="0">
                <a:solidFill>
                  <a:srgbClr val="FFFFFF"/>
                </a:solidFill>
                <a:latin typeface="Menlo"/>
              </a:rPr>
              <a:t>MDC Context </a:t>
            </a:r>
            <a:r>
              <a:rPr lang="ko-KR" altLang="en-US" sz="1100" dirty="0">
                <a:solidFill>
                  <a:srgbClr val="FFFFFF"/>
                </a:solidFill>
                <a:latin typeface="Menlo"/>
              </a:rPr>
              <a:t>전파 </a:t>
            </a:r>
            <a:endParaRPr sz="1100" dirty="0">
              <a:solidFill>
                <a:srgbClr val="FFFFFF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 </a:t>
            </a:r>
            <a:r>
              <a:rPr sz="1100" dirty="0">
                <a:solidFill>
                  <a:srgbClr val="C084FC"/>
                </a:solidFill>
                <a:latin typeface="Menlo"/>
              </a:rPr>
              <a:t>finally </a:t>
            </a:r>
            <a:r>
              <a:rPr sz="1100" dirty="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MDC.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remove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sz="1100" dirty="0">
                <a:solidFill>
                  <a:srgbClr val="FBBF24"/>
                </a:solidFill>
                <a:latin typeface="Menlo"/>
              </a:rPr>
              <a:t>"</a:t>
            </a:r>
            <a:r>
              <a:rPr lang="en-US" sz="1100" dirty="0" err="1">
                <a:solidFill>
                  <a:srgbClr val="FBBF24"/>
                </a:solidFill>
                <a:latin typeface="Menlo"/>
              </a:rPr>
              <a:t>userId</a:t>
            </a:r>
            <a:r>
              <a:rPr sz="1100" dirty="0">
                <a:solidFill>
                  <a:srgbClr val="FBBF24"/>
                </a:solidFill>
                <a:latin typeface="Menlo"/>
              </a:rPr>
              <a:t>"</a:t>
            </a:r>
            <a:r>
              <a:rPr sz="1100" dirty="0">
                <a:solidFill>
                  <a:srgbClr val="D1D5DB"/>
                </a:solidFill>
                <a:latin typeface="Menlo"/>
              </a:rPr>
              <a:t>)</a:t>
            </a:r>
          </a:p>
          <a:p>
            <a:pPr algn="l"/>
            <a:r>
              <a:rPr sz="1100" dirty="0">
                <a:solidFill>
                  <a:srgbClr val="6B7280"/>
                </a:solidFill>
                <a:latin typeface="Menlo"/>
              </a:rPr>
              <a:t>    // ★ finally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누락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시</a:t>
            </a:r>
            <a:r>
              <a:rPr sz="1100" dirty="0">
                <a:solidFill>
                  <a:srgbClr val="6B7280"/>
                </a:solidFill>
                <a:latin typeface="Menlo"/>
              </a:rPr>
              <a:t> leak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5212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FECACA"/>
                </a:solidFill>
                <a:latin typeface="Pretendard"/>
              </a:rPr>
              <a:t>필터·예외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경로에서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remove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누락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시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스레드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재사용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타이밍에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이전</a:t>
            </a:r>
            <a:r>
              <a:rPr lang="en-US" sz="1000" b="0" dirty="0" err="1">
                <a:solidFill>
                  <a:srgbClr val="FECACA"/>
                </a:solidFill>
                <a:latin typeface="Pretendard"/>
              </a:rPr>
              <a:t>userId</a:t>
            </a:r>
            <a:r>
              <a:rPr sz="1000" b="0" dirty="0">
                <a:solidFill>
                  <a:srgbClr val="FECACA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FECACA"/>
                </a:solidFill>
                <a:latin typeface="Pretendard"/>
              </a:rPr>
              <a:t>섞</a:t>
            </a:r>
            <a:r>
              <a:rPr lang="ko-KR" altLang="en-US" sz="1000" dirty="0">
                <a:solidFill>
                  <a:srgbClr val="FECACA"/>
                </a:solidFill>
                <a:latin typeface="Pretendard"/>
              </a:rPr>
              <a:t>일 수 있음</a:t>
            </a:r>
            <a:r>
              <a:rPr lang="en-US" altLang="ko-KR" sz="1000" dirty="0">
                <a:solidFill>
                  <a:srgbClr val="FECACA"/>
                </a:solidFill>
                <a:latin typeface="Pretendard"/>
              </a:rPr>
              <a:t>.</a:t>
            </a:r>
            <a:endParaRPr sz="1000" b="0" dirty="0">
              <a:solidFill>
                <a:srgbClr val="FECACA"/>
              </a:solidFill>
              <a:latin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00650" y="2606040"/>
            <a:ext cx="5940829" cy="34747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ScopedValue 기반 전파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6371" y="3108960"/>
            <a:ext cx="5712229" cy="21945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5237" y="3218688"/>
            <a:ext cx="5416203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 err="1">
                <a:solidFill>
                  <a:srgbClr val="D1D5DB"/>
                </a:solidFill>
                <a:latin typeface="Menlo"/>
              </a:rPr>
              <a:t>val</a:t>
            </a:r>
            <a:r>
              <a:rPr sz="1100" dirty="0">
                <a:solidFill>
                  <a:srgbClr val="D1D5DB"/>
                </a:solidFill>
                <a:latin typeface="Menlo"/>
              </a:rPr>
              <a:t> TRACE_ID: 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ScopedValue</a:t>
            </a:r>
            <a:r>
              <a:rPr sz="1100" dirty="0">
                <a:solidFill>
                  <a:srgbClr val="D1D5DB"/>
                </a:solidFill>
                <a:latin typeface="Menlo"/>
              </a:rPr>
              <a:t>&lt;String&gt;</a:t>
            </a:r>
            <a:r>
              <a:rPr lang="ko-KR" altLang="en-US" sz="1100" dirty="0">
                <a:solidFill>
                  <a:srgbClr val="D1D5DB"/>
                </a:solidFill>
                <a:latin typeface="Menlo"/>
              </a:rPr>
              <a:t> </a:t>
            </a:r>
            <a:r>
              <a:rPr lang="en-US" altLang="ko-KR" sz="1100" dirty="0">
                <a:solidFill>
                  <a:srgbClr val="D1D5DB"/>
                </a:solidFill>
                <a:latin typeface="Menlo"/>
              </a:rPr>
              <a:t>=</a:t>
            </a:r>
            <a:r>
              <a:rPr lang="ko-KR" altLang="en-US" sz="1100" dirty="0">
                <a:solidFill>
                  <a:srgbClr val="D1D5DB"/>
                </a:solidFill>
                <a:latin typeface="Menlo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Menlo"/>
              </a:rPr>
              <a:t>ScopedValue.</a:t>
            </a:r>
            <a:r>
              <a:rPr lang="en" sz="1100" dirty="0" err="1">
                <a:solidFill>
                  <a:srgbClr val="60A5FA"/>
                </a:solidFill>
                <a:latin typeface="Menlo"/>
              </a:rPr>
              <a:t>newInstance</a:t>
            </a:r>
            <a:r>
              <a:rPr lang="en" sz="1100" dirty="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endParaRPr sz="1100" dirty="0">
              <a:solidFill>
                <a:srgbClr val="D1D5DB"/>
              </a:solidFill>
              <a:latin typeface="Menlo"/>
            </a:endParaRPr>
          </a:p>
          <a:p>
            <a:pPr algn="l"/>
            <a:r>
              <a:rPr sz="1100" dirty="0" err="1">
                <a:solidFill>
                  <a:srgbClr val="FFFFFF"/>
                </a:solidFill>
                <a:latin typeface="Menlo"/>
              </a:rPr>
              <a:t>ScopedValue.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where</a:t>
            </a:r>
            <a:r>
              <a:rPr sz="1100" dirty="0">
                <a:solidFill>
                  <a:srgbClr val="D1D5DB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D1D5DB"/>
                </a:solidFill>
                <a:latin typeface="Menlo"/>
              </a:rPr>
              <a:t>USER</a:t>
            </a:r>
            <a:r>
              <a:rPr sz="1100" dirty="0">
                <a:solidFill>
                  <a:srgbClr val="D1D5DB"/>
                </a:solidFill>
                <a:latin typeface="Menlo"/>
              </a:rPr>
              <a:t>_ID, </a:t>
            </a:r>
            <a:r>
              <a:rPr lang="en-US" sz="1100" dirty="0" err="1">
                <a:solidFill>
                  <a:srgbClr val="D1D5DB"/>
                </a:solidFill>
                <a:latin typeface="Menlo"/>
              </a:rPr>
              <a:t>userId</a:t>
            </a:r>
            <a:r>
              <a:rPr sz="1100" dirty="0">
                <a:solidFill>
                  <a:srgbClr val="D1D5DB"/>
                </a:solidFill>
                <a:latin typeface="Menlo"/>
              </a:rPr>
              <a:t>).</a:t>
            </a:r>
            <a:r>
              <a:rPr sz="1100" dirty="0">
                <a:solidFill>
                  <a:srgbClr val="60A5FA"/>
                </a:solidFill>
                <a:latin typeface="Menlo"/>
              </a:rPr>
              <a:t>run </a:t>
            </a:r>
            <a:r>
              <a:rPr sz="1100" dirty="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process()  </a:t>
            </a:r>
            <a:r>
              <a:rPr sz="1100" dirty="0">
                <a:solidFill>
                  <a:srgbClr val="6B7280"/>
                </a:solidFill>
                <a:latin typeface="Menlo"/>
              </a:rPr>
              <a:t>// </a:t>
            </a:r>
            <a:r>
              <a:rPr lang="en-US" sz="1100" dirty="0" err="1">
                <a:solidFill>
                  <a:srgbClr val="6B7280"/>
                </a:solidFill>
                <a:latin typeface="Menlo"/>
              </a:rPr>
              <a:t>USER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_ID.get</a:t>
            </a:r>
            <a:r>
              <a:rPr sz="1100" dirty="0">
                <a:solidFill>
                  <a:srgbClr val="6B7280"/>
                </a:solidFill>
                <a:latin typeface="Menlo"/>
              </a:rPr>
              <a:t>()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가능</a:t>
            </a:r>
            <a:endParaRPr sz="1100" dirty="0">
              <a:solidFill>
                <a:srgbClr val="6B7280"/>
              </a:solidFill>
              <a:latin typeface="Menlo"/>
            </a:endParaRP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  </a:t>
            </a:r>
            <a:r>
              <a:rPr sz="1100" dirty="0">
                <a:solidFill>
                  <a:srgbClr val="6B7280"/>
                </a:solidFill>
                <a:latin typeface="Menlo"/>
              </a:rPr>
              <a:t>//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스코프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종료</a:t>
            </a:r>
            <a:r>
              <a:rPr sz="1100" dirty="0">
                <a:solidFill>
                  <a:srgbClr val="6B7280"/>
                </a:solidFill>
                <a:latin typeface="Menlo"/>
              </a:rPr>
              <a:t> =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자동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해제</a:t>
            </a:r>
            <a:endParaRPr sz="1100" dirty="0">
              <a:solidFill>
                <a:srgbClr val="6B7280"/>
              </a:solidFill>
              <a:latin typeface="Menl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56960" y="5387109"/>
            <a:ext cx="5212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BBF7D0"/>
                </a:solidFill>
                <a:latin typeface="Pretendard"/>
              </a:rPr>
              <a:t>블록이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끝나면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값이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사라진다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—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remove를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잊을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수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없는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BBF7D0"/>
                </a:solidFill>
                <a:latin typeface="Pretendard"/>
              </a:rPr>
              <a:t>구조</a:t>
            </a:r>
            <a:r>
              <a:rPr sz="1000" b="0" dirty="0">
                <a:solidFill>
                  <a:srgbClr val="BBF7D0"/>
                </a:solidFill>
                <a:latin typeface="Pretendard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요약: </a:t>
            </a:r>
            <a:r>
              <a:rPr sz="1300" b="1" i="0">
                <a:solidFill>
                  <a:srgbClr val="34D399"/>
                </a:solidFill>
                <a:latin typeface="Pretendard"/>
              </a:rPr>
              <a:t>remove 누락으로 인한 로그 오염·누수 문제를 ScopedValue가 구조적으로 차단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보너스 ② / 구조적 동시성이란?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구조적 동시성 — 비동기 작업을 트리로 묶는다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23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1201400" cy="14630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부모 스코프가 자식 작업의 생명 주기를 책임지는 동시성 모델. 부모 스코프가 끝나기 전에 자식 작업은 전부 완료되거나 취소된 상태여야 한다. 한 자식이 실패하면 나머지 자식에게 취소가 전파된다.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Pretendard"/>
              </a:rPr>
              <a:t>기존 방식 vs 구조적 동시성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ExecutorService + Future (기존)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• 제출한 Future를 직접 관리
• 한 작업 실패 시 다른 작업 취소는 수동
• 잊어버리면 좀비 작업이 리소스 점유
• 예외 전파·타임아웃 제어 직접 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6576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794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StructuredTaskScope (JDK 21+)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Pretendard"/>
              </a:rPr>
              <a:t>• use 블록 안에서 fork → join으로 묶임
• 자식 실패 시 나머지 자식 자동 취소
• 블록 종료 = 모든 자식 종료 보장 (좀비 X)
• 코루틴 coroutineScope와 같은 패러다임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Pretendard"/>
              </a:rPr>
              <a:t>요약: </a:t>
            </a:r>
            <a:r>
              <a:rPr sz="1300" b="1" i="0">
                <a:solidFill>
                  <a:srgbClr val="60A5FA"/>
                </a:solidFill>
                <a:latin typeface="Pretendard"/>
              </a:rPr>
              <a:t>비동기 작업을 함수 호출처럼 '들어갔다 반드시 나온다'로 묶는다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보너스 ② / 구조적 동시성 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코루틴 structured concurrency, 버츄얼 스레드에도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  <a:latin typeface="Pretendard"/>
              </a:rPr>
              <a:t>코루틴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86400" cy="292608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5212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C084FC"/>
                </a:solidFill>
                <a:latin typeface="Menlo"/>
              </a:rPr>
              <a:t>coroutineScope </a:t>
            </a:r>
            <a:r>
              <a:rPr sz="1100">
                <a:solidFill>
                  <a:srgbClr val="D1D5DB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    val a = </a:t>
            </a:r>
            <a:r>
              <a:rPr sz="1100">
                <a:solidFill>
                  <a:srgbClr val="60A5FA"/>
                </a:solidFill>
                <a:latin typeface="Menlo"/>
              </a:rPr>
              <a:t>async </a:t>
            </a:r>
            <a:r>
              <a:rPr sz="1100">
                <a:solidFill>
                  <a:srgbClr val="D1D5DB"/>
                </a:solidFill>
                <a:latin typeface="Menlo"/>
              </a:rPr>
              <a:t>{ callA() }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    val b = </a:t>
            </a:r>
            <a:r>
              <a:rPr sz="1100">
                <a:solidFill>
                  <a:srgbClr val="60A5FA"/>
                </a:solidFill>
                <a:latin typeface="Menlo"/>
              </a:rPr>
              <a:t>async </a:t>
            </a:r>
            <a:r>
              <a:rPr sz="1100">
                <a:solidFill>
                  <a:srgbClr val="D1D5DB"/>
                </a:solidFill>
                <a:latin typeface="Menlo"/>
              </a:rPr>
              <a:t>{ callB() }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    a.await() </a:t>
            </a:r>
            <a:r>
              <a:rPr sz="1100">
                <a:solidFill>
                  <a:srgbClr val="C084FC"/>
                </a:solidFill>
                <a:latin typeface="Menlo"/>
              </a:rPr>
              <a:t>to</a:t>
            </a:r>
            <a:r>
              <a:rPr sz="1100">
                <a:solidFill>
                  <a:srgbClr val="D1D5DB"/>
                </a:solidFill>
                <a:latin typeface="Menlo"/>
              </a:rPr>
              <a:t> b.await()</a:t>
            </a:r>
          </a:p>
          <a:p>
            <a:pPr algn="l"/>
            <a:r>
              <a:rPr sz="1100">
                <a:solidFill>
                  <a:srgbClr val="D1D5DB"/>
                </a:solidFill>
                <a:latin typeface="Menlo"/>
              </a:rPr>
              <a:t>} </a:t>
            </a:r>
            <a:r>
              <a:rPr sz="1100">
                <a:solidFill>
                  <a:srgbClr val="6B7280"/>
                </a:solidFill>
                <a:latin typeface="Menlo"/>
              </a:rPr>
              <a:t>// 한 쪽 실패 시 전체 취소·정리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버츄얼 스레드 (JDK 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5486400" cy="292608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21408"/>
            <a:ext cx="5212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 err="1">
                <a:solidFill>
                  <a:srgbClr val="FFFFFF"/>
                </a:solidFill>
                <a:latin typeface="Menlo"/>
              </a:rPr>
              <a:t>StructuredTaskScope.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ShutdownOnFailure</a:t>
            </a:r>
            <a:r>
              <a:rPr sz="1100" dirty="0">
                <a:solidFill>
                  <a:srgbClr val="FFFFFF"/>
                </a:solidFill>
                <a:latin typeface="Menlo"/>
              </a:rPr>
              <a:t>().</a:t>
            </a:r>
            <a:r>
              <a:rPr sz="1100" dirty="0">
                <a:solidFill>
                  <a:srgbClr val="60A5FA"/>
                </a:solidFill>
                <a:latin typeface="Menlo"/>
              </a:rPr>
              <a:t>use </a:t>
            </a:r>
            <a:r>
              <a:rPr sz="1100" dirty="0">
                <a:solidFill>
                  <a:srgbClr val="D1D5DB"/>
                </a:solidFill>
                <a:latin typeface="Menlo"/>
              </a:rPr>
              <a:t>{ scope -&gt;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val</a:t>
            </a:r>
            <a:r>
              <a:rPr sz="1100" dirty="0">
                <a:solidFill>
                  <a:srgbClr val="FFFFFF"/>
                </a:solidFill>
                <a:latin typeface="Menlo"/>
              </a:rPr>
              <a:t> a =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scope.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fork</a:t>
            </a:r>
            <a:r>
              <a:rPr sz="1100" dirty="0">
                <a:solidFill>
                  <a:srgbClr val="60A5FA"/>
                </a:solidFill>
                <a:latin typeface="Menlo"/>
              </a:rPr>
              <a:t> </a:t>
            </a:r>
            <a:r>
              <a:rPr sz="1100" dirty="0">
                <a:solidFill>
                  <a:srgbClr val="D1D5DB"/>
                </a:solidFill>
                <a:latin typeface="Menlo"/>
              </a:rPr>
              <a:t>{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callA</a:t>
            </a:r>
            <a:r>
              <a:rPr sz="1100" dirty="0">
                <a:solidFill>
                  <a:srgbClr val="D1D5DB"/>
                </a:solidFill>
                <a:latin typeface="Menlo"/>
              </a:rPr>
              <a:t>() }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val</a:t>
            </a:r>
            <a:r>
              <a:rPr sz="1100" dirty="0">
                <a:solidFill>
                  <a:srgbClr val="FFFFFF"/>
                </a:solidFill>
                <a:latin typeface="Menlo"/>
              </a:rPr>
              <a:t> b =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scope.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fork</a:t>
            </a:r>
            <a:r>
              <a:rPr sz="1100" dirty="0">
                <a:solidFill>
                  <a:srgbClr val="60A5FA"/>
                </a:solidFill>
                <a:latin typeface="Menlo"/>
              </a:rPr>
              <a:t> </a:t>
            </a:r>
            <a:r>
              <a:rPr sz="1100" dirty="0">
                <a:solidFill>
                  <a:srgbClr val="D1D5DB"/>
                </a:solidFill>
                <a:latin typeface="Menlo"/>
              </a:rPr>
              <a:t>{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callB</a:t>
            </a:r>
            <a:r>
              <a:rPr sz="1100" dirty="0">
                <a:solidFill>
                  <a:srgbClr val="D1D5DB"/>
                </a:solidFill>
                <a:latin typeface="Menlo"/>
              </a:rPr>
              <a:t>() }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scope.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join</a:t>
            </a:r>
            <a:r>
              <a:rPr sz="1100" dirty="0">
                <a:solidFill>
                  <a:srgbClr val="FFFFFF"/>
                </a:solidFill>
                <a:latin typeface="Menlo"/>
              </a:rPr>
              <a:t>(); </a:t>
            </a:r>
            <a:r>
              <a:rPr sz="1100" dirty="0" err="1">
                <a:solidFill>
                  <a:srgbClr val="FFFFFF"/>
                </a:solidFill>
                <a:latin typeface="Menlo"/>
              </a:rPr>
              <a:t>scope.</a:t>
            </a:r>
            <a:r>
              <a:rPr sz="1100" dirty="0" err="1">
                <a:solidFill>
                  <a:srgbClr val="60A5FA"/>
                </a:solidFill>
                <a:latin typeface="Menlo"/>
              </a:rPr>
              <a:t>throwIfFailed</a:t>
            </a:r>
            <a:r>
              <a:rPr sz="1100" dirty="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   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a.get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 </a:t>
            </a:r>
            <a:r>
              <a:rPr sz="1100" dirty="0">
                <a:solidFill>
                  <a:srgbClr val="C084FC"/>
                </a:solidFill>
                <a:latin typeface="Menlo"/>
              </a:rPr>
              <a:t>to</a:t>
            </a:r>
            <a:r>
              <a:rPr sz="1100" dirty="0">
                <a:solidFill>
                  <a:srgbClr val="D1D5DB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D1D5DB"/>
                </a:solidFill>
                <a:latin typeface="Menlo"/>
              </a:rPr>
              <a:t>b.get</a:t>
            </a:r>
            <a:r>
              <a:rPr sz="1100" dirty="0">
                <a:solidFill>
                  <a:srgbClr val="D1D5DB"/>
                </a:solidFill>
                <a:latin typeface="Menlo"/>
              </a:rPr>
              <a:t>()</a:t>
            </a:r>
          </a:p>
          <a:p>
            <a:pPr algn="l"/>
            <a:r>
              <a:rPr sz="1100" dirty="0">
                <a:solidFill>
                  <a:srgbClr val="D1D5DB"/>
                </a:solidFill>
                <a:latin typeface="Menlo"/>
              </a:rPr>
              <a:t>} </a:t>
            </a:r>
            <a:r>
              <a:rPr sz="1100" dirty="0">
                <a:solidFill>
                  <a:srgbClr val="6B7280"/>
                </a:solidFill>
                <a:latin typeface="Menlo"/>
              </a:rPr>
              <a:t>//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같은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의미</a:t>
            </a:r>
            <a:r>
              <a:rPr sz="1100" dirty="0">
                <a:solidFill>
                  <a:srgbClr val="6B7280"/>
                </a:solidFill>
                <a:latin typeface="Menlo"/>
              </a:rPr>
              <a:t> —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자식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실패·취소</a:t>
            </a:r>
            <a:r>
              <a:rPr sz="1100" dirty="0">
                <a:solidFill>
                  <a:srgbClr val="6B7280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Menlo"/>
              </a:rPr>
              <a:t>전파</a:t>
            </a:r>
            <a:endParaRPr sz="1100" dirty="0">
              <a:solidFill>
                <a:srgbClr val="6B7280"/>
              </a:solidFill>
              <a:latin typeface="Menl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47781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60A5FA"/>
                </a:solidFill>
                <a:latin typeface="Pretendard"/>
              </a:rPr>
              <a:t>구조적 동시성 </a:t>
            </a:r>
            <a:r>
              <a:rPr lang="en-US" altLang="ko-KR" sz="1300" dirty="0">
                <a:solidFill>
                  <a:srgbClr val="60A5FA"/>
                </a:solidFill>
                <a:latin typeface="Pretendard"/>
              </a:rPr>
              <a:t>:</a:t>
            </a:r>
            <a:r>
              <a:rPr lang="ko-KR" altLang="en-US" sz="1300" dirty="0">
                <a:solidFill>
                  <a:srgbClr val="60A5FA"/>
                </a:solidFill>
                <a:latin typeface="Pretendard"/>
              </a:rPr>
              <a:t> 계층 구조를 명확히 정의하고 생명 주기 관리가 쉽다</a:t>
            </a:r>
            <a:r>
              <a:rPr lang="en-US" altLang="ko-KR" sz="1300" dirty="0">
                <a:solidFill>
                  <a:srgbClr val="60A5FA"/>
                </a:solidFill>
                <a:latin typeface="Pretendard"/>
              </a:rPr>
              <a:t>.</a:t>
            </a:r>
            <a:endParaRPr sz="1300" b="0" dirty="0">
              <a:solidFill>
                <a:srgbClr val="60A5FA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6263640"/>
            <a:ext cx="11155680" cy="5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Pretendard"/>
              </a:rPr>
              <a:t>익숙한 패러다임을 JDK 기본기로 쓸 수 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보너스 ④ / Jackson 2 →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JSON 직렬화 성능 최대 45%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26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Pretendard"/>
              </a:rPr>
              <a:t>Jackson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리플렉션으로 매번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5212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직렬화할 때마다 객체의 타입과 필드 정보를 런타임 리플렉션으로 반복 확인.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Pretendard"/>
              </a:rPr>
              <a:t>Jackson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빌드 시점에 미리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11880"/>
            <a:ext cx="5212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초기화 단계에서 직렬화 경로를 한 번만 계산해 저장. 런타임에는 준비된 경로대로 바로 실행 → 리플렉션 비용 제거.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989320"/>
            <a:ext cx="11201400" cy="228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1201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Pretendard"/>
              </a:rPr>
              <a:t>→ JSON 직렬화 성능 최대 45% 개선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Pretendard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결론</a:t>
            </a:r>
            <a:endParaRPr sz="28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28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Pretendard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288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복잡도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7452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동기 코드로 돌아와 유지보수·온보딩 쉬움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Pretendard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974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멜트다운 위험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74320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JDK 25 피닝 해결로 synchronized도 투명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8444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Pretendard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661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생태계 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6118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JDBC·블로킹 HTTP 등 JVM 생태계 그대로 재사용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53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Pretendard"/>
              </a:rPr>
              <a:t>+α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348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JDK 기본기 이득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4805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ScopedValue · 구조적 동시성 · Jackson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8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2180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Pretendard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3035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Pretendard"/>
              </a:rPr>
              <a:t>단</a:t>
            </a:r>
            <a:r>
              <a:rPr sz="1600" b="1" dirty="0">
                <a:solidFill>
                  <a:srgbClr val="FFFFFF"/>
                </a:solidFill>
                <a:latin typeface="Pretendard"/>
              </a:rPr>
              <a:t>, </a:t>
            </a:r>
            <a:r>
              <a:rPr sz="1600" b="1" dirty="0" err="1">
                <a:solidFill>
                  <a:srgbClr val="FFFFFF"/>
                </a:solidFill>
                <a:latin typeface="Pretendard"/>
              </a:rPr>
              <a:t>무제한</a:t>
            </a:r>
            <a:r>
              <a:rPr sz="16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Pretendard"/>
              </a:rPr>
              <a:t>동시성은</a:t>
            </a:r>
            <a:r>
              <a:rPr sz="16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Pretendard"/>
              </a:rPr>
              <a:t>위험</a:t>
            </a:r>
            <a:endParaRPr sz="16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0" y="534924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Pretendard"/>
              </a:rPr>
              <a:t>외부 호출은 Semaphore로 상한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2830</Words>
  <Application>Microsoft Macintosh PowerPoint</Application>
  <PresentationFormat>와이드스크린</PresentationFormat>
  <Paragraphs>459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Pretendard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정형일</cp:lastModifiedBy>
  <cp:revision>6</cp:revision>
  <dcterms:created xsi:type="dcterms:W3CDTF">2013-01-27T09:14:16Z</dcterms:created>
  <dcterms:modified xsi:type="dcterms:W3CDTF">2026-04-19T12:10:12Z</dcterms:modified>
  <cp:category/>
</cp:coreProperties>
</file>